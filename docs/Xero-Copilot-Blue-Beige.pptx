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9056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brief's own example: 'Create 4 different images like this'. Every ad on the right was generated by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the left-behind list was a choice, not an oversight. Themes are the first next step because Christmas red and green would be off-brand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principle: brand rules in code, creativity in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7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4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8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FC6F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7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 panel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428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Real ads wall" descr="C:\Users\sreekar.paruchuru\AppData\Local\Temp\claude\c--Users-sreekar-paruchuru-Desktop-photoeditor\eaf3932d-2151-4196-8d11-1209a11209cf\scratchpad\assets_v2\her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640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8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GETCRUX AI HACKATHON  |  17 OCT 2026</a:t>
            </a:r>
            <a:endParaRPr lang="en-US" sz="12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0972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Xero</a:t>
            </a:r>
            <a:endParaRPr lang="en-US" sz="5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</a:t>
            </a:r>
            <a:endParaRPr lang="en-US" sz="56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2926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3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agentic, on-brand AI image editor</a:t>
            </a:r>
            <a:endParaRPr lang="en-US" sz="2000" dirty="0"/>
          </a:p>
        </p:txBody>
      </p:sp>
      <p:sp>
        <p:nvSpPr>
          <p:cNvPr id="7" name="Tagline"/>
          <p:cNvSpPr txBox="1"/>
          <p:nvPr/>
        </p:nvSpPr>
        <p:spPr>
          <a:xfrm>
            <a:off x="548640" y="3749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is a layered, editable design that follows the brand kit, not a flat picture.</a:t>
            </a:r>
            <a:endParaRPr lang="en-US" sz="1400" dirty="0"/>
          </a:p>
        </p:txBody>
      </p:sp>
      <p:sp>
        <p:nvSpPr>
          <p:cNvPr id="8" name="Footer"/>
          <p:cNvSpPr txBox="1"/>
          <p:nvPr/>
        </p:nvSpPr>
        <p:spPr>
          <a:xfrm>
            <a:off x="54864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Cruxlabs, Bangalore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brand rules to editable ads</a:t>
            </a:r>
            <a:endParaRPr lang="en-US" sz="34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188720"/>
            <a:ext cx="2468880" cy="3429000"/>
          </a:xfrm>
          <a:prstGeom prst="roundRect">
            <a:avLst>
              <a:gd name="adj" fmla="val 5185"/>
            </a:avLst>
          </a:prstGeom>
          <a:solidFill>
            <a:srgbClr val="14284B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Problem label"/>
          <p:cNvSpPr txBox="1"/>
          <p:nvPr/>
        </p:nvSpPr>
        <p:spPr>
          <a:xfrm>
            <a:off x="68580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F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Problem headline"/>
          <p:cNvSpPr txBox="1"/>
          <p:nvPr/>
        </p:nvSpPr>
        <p:spPr>
          <a:xfrm>
            <a:off x="685800" y="178308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ads. One missed rule. Off-brand.</a:t>
            </a:r>
            <a:endParaRPr lang="en-US" sz="2200" dirty="0"/>
          </a:p>
        </p:txBody>
      </p:sp>
      <p:sp>
        <p:nvSpPr>
          <p:cNvPr id="6" name="Problem detail"/>
          <p:cNvSpPr txBox="1"/>
          <p:nvPr/>
        </p:nvSpPr>
        <p:spPr>
          <a:xfrm>
            <a:off x="685800" y="32004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 build many branded ads by hand. One missed rule ships an off-brand ad.</a:t>
            </a:r>
            <a:endParaRPr lang="en-US" sz="1400" dirty="0"/>
          </a:p>
        </p:txBody>
      </p:sp>
      <p:sp>
        <p:nvSpPr>
          <p:cNvPr id="7" name="Feature card 1"/>
          <p:cNvSpPr/>
          <p:nvPr/>
        </p:nvSpPr>
        <p:spPr>
          <a:xfrm>
            <a:off x="3108960" y="1188720"/>
            <a:ext cx="1737360" cy="1645920"/>
          </a:xfrm>
          <a:prstGeom prst="roundRect">
            <a:avLst>
              <a:gd name="adj" fmla="val 7778"/>
            </a:avLst>
          </a:prstGeom>
          <a:solidFill>
            <a:srgbClr val="FBF7EE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Feature 1 circle"/>
          <p:cNvSpPr/>
          <p:nvPr/>
        </p:nvSpPr>
        <p:spPr>
          <a:xfrm>
            <a:off x="3246120" y="1325880"/>
            <a:ext cx="420624" cy="420624"/>
          </a:xfrm>
          <a:prstGeom prst="ellipse">
            <a:avLst/>
          </a:prstGeom>
          <a:solidFill>
            <a:srgbClr val="1F3C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Feature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76" y="1431036"/>
            <a:ext cx="210312" cy="210312"/>
          </a:xfrm>
          <a:prstGeom prst="rect">
            <a:avLst/>
          </a:prstGeom>
        </p:spPr>
      </p:pic>
      <p:sp>
        <p:nvSpPr>
          <p:cNvPr id="10" name="Feature 1 title"/>
          <p:cNvSpPr txBox="1"/>
          <p:nvPr/>
        </p:nvSpPr>
        <p:spPr>
          <a:xfrm>
            <a:off x="3246120" y="18105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to design</a:t>
            </a:r>
            <a:endParaRPr lang="en-US" sz="1300" dirty="0"/>
          </a:p>
        </p:txBody>
      </p:sp>
      <p:sp>
        <p:nvSpPr>
          <p:cNvPr id="11" name="Feature 1 text"/>
          <p:cNvSpPr txBox="1"/>
          <p:nvPr/>
        </p:nvSpPr>
        <p:spPr>
          <a:xfrm>
            <a:off x="3246120" y="22402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ad. Get copy, layout, photos and charms.</a:t>
            </a:r>
            <a:endParaRPr lang="en-US" sz="1100" dirty="0"/>
          </a:p>
        </p:txBody>
      </p:sp>
      <p:sp>
        <p:nvSpPr>
          <p:cNvPr id="12" name="Feature card 2"/>
          <p:cNvSpPr/>
          <p:nvPr/>
        </p:nvSpPr>
        <p:spPr>
          <a:xfrm>
            <a:off x="4983480" y="1188720"/>
            <a:ext cx="1737360" cy="1645920"/>
          </a:xfrm>
          <a:prstGeom prst="roundRect">
            <a:avLst>
              <a:gd name="adj" fmla="val 7778"/>
            </a:avLst>
          </a:prstGeom>
          <a:solidFill>
            <a:srgbClr val="FBF7EE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Feature 2 circle"/>
          <p:cNvSpPr/>
          <p:nvPr/>
        </p:nvSpPr>
        <p:spPr>
          <a:xfrm>
            <a:off x="5120640" y="1325880"/>
            <a:ext cx="420624" cy="420624"/>
          </a:xfrm>
          <a:prstGeom prst="ellipse">
            <a:avLst/>
          </a:prstGeom>
          <a:solidFill>
            <a:srgbClr val="3A6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Feature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5796" y="1431036"/>
            <a:ext cx="210312" cy="210312"/>
          </a:xfrm>
          <a:prstGeom prst="rect">
            <a:avLst/>
          </a:prstGeom>
        </p:spPr>
      </p:pic>
      <p:sp>
        <p:nvSpPr>
          <p:cNvPr id="15" name="Feature 2 title"/>
          <p:cNvSpPr txBox="1"/>
          <p:nvPr/>
        </p:nvSpPr>
        <p:spPr>
          <a:xfrm>
            <a:off x="5120640" y="18105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 this</a:t>
            </a:r>
            <a:endParaRPr lang="en-US" sz="1300" dirty="0"/>
          </a:p>
        </p:txBody>
      </p:sp>
      <p:sp>
        <p:nvSpPr>
          <p:cNvPr id="16" name="Feature 2 text"/>
          <p:cNvSpPr txBox="1"/>
          <p:nvPr/>
        </p:nvSpPr>
        <p:spPr>
          <a:xfrm>
            <a:off x="5120640" y="22402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any ad as layers, then “Create 4 like this”.</a:t>
            </a:r>
            <a:endParaRPr lang="en-US" sz="1100" dirty="0"/>
          </a:p>
        </p:txBody>
      </p:sp>
      <p:sp>
        <p:nvSpPr>
          <p:cNvPr id="17" name="Feature card 3"/>
          <p:cNvSpPr/>
          <p:nvPr/>
        </p:nvSpPr>
        <p:spPr>
          <a:xfrm>
            <a:off x="6858000" y="1188720"/>
            <a:ext cx="1737360" cy="1645920"/>
          </a:xfrm>
          <a:prstGeom prst="roundRect">
            <a:avLst>
              <a:gd name="adj" fmla="val 7778"/>
            </a:avLst>
          </a:prstGeom>
          <a:solidFill>
            <a:srgbClr val="FBF7EE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Feature 3 circle"/>
          <p:cNvSpPr/>
          <p:nvPr/>
        </p:nvSpPr>
        <p:spPr>
          <a:xfrm>
            <a:off x="6995160" y="1325880"/>
            <a:ext cx="420624" cy="420624"/>
          </a:xfrm>
          <a:prstGeom prst="ellipse">
            <a:avLst/>
          </a:prstGeom>
          <a:solidFill>
            <a:srgbClr val="1F3C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Feature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0316" y="1431036"/>
            <a:ext cx="210312" cy="210312"/>
          </a:xfrm>
          <a:prstGeom prst="rect">
            <a:avLst/>
          </a:prstGeom>
        </p:spPr>
      </p:pic>
      <p:sp>
        <p:nvSpPr>
          <p:cNvPr id="20" name="Feature 3 title"/>
          <p:cNvSpPr txBox="1"/>
          <p:nvPr/>
        </p:nvSpPr>
        <p:spPr>
          <a:xfrm>
            <a:off x="6995160" y="18105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hands-on edits</a:t>
            </a:r>
            <a:endParaRPr lang="en-US" sz="1300" dirty="0"/>
          </a:p>
        </p:txBody>
      </p:sp>
      <p:sp>
        <p:nvSpPr>
          <p:cNvPr id="21" name="Feature 3 text"/>
          <p:cNvSpPr txBox="1"/>
          <p:nvPr/>
        </p:nvSpPr>
        <p:spPr>
          <a:xfrm>
            <a:off x="6995160" y="22402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“Make it dark”, drag, resize, undo.</a:t>
            </a:r>
            <a:endParaRPr lang="en-US" sz="1100" dirty="0"/>
          </a:p>
        </p:txBody>
      </p:sp>
      <p:sp>
        <p:nvSpPr>
          <p:cNvPr id="22" name="Feature card 4"/>
          <p:cNvSpPr/>
          <p:nvPr/>
        </p:nvSpPr>
        <p:spPr>
          <a:xfrm>
            <a:off x="3108960" y="2971800"/>
            <a:ext cx="1737360" cy="1645920"/>
          </a:xfrm>
          <a:prstGeom prst="roundRect">
            <a:avLst>
              <a:gd name="adj" fmla="val 7778"/>
            </a:avLst>
          </a:prstGeom>
          <a:solidFill>
            <a:srgbClr val="FBF7EE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Feature 4 circle"/>
          <p:cNvSpPr/>
          <p:nvPr/>
        </p:nvSpPr>
        <p:spPr>
          <a:xfrm>
            <a:off x="3246120" y="3108960"/>
            <a:ext cx="420624" cy="420624"/>
          </a:xfrm>
          <a:prstGeom prst="ellipse">
            <a:avLst/>
          </a:prstGeom>
          <a:solidFill>
            <a:srgbClr val="3A6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Feature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1276" y="3214116"/>
            <a:ext cx="210312" cy="210312"/>
          </a:xfrm>
          <a:prstGeom prst="rect">
            <a:avLst/>
          </a:prstGeom>
        </p:spPr>
      </p:pic>
      <p:sp>
        <p:nvSpPr>
          <p:cNvPr id="25" name="Feature 4 title"/>
          <p:cNvSpPr txBox="1"/>
          <p:nvPr/>
        </p:nvSpPr>
        <p:spPr>
          <a:xfrm>
            <a:off x="3246120" y="35935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 and SVG import</a:t>
            </a:r>
            <a:endParaRPr lang="en-US" sz="1300" dirty="0"/>
          </a:p>
        </p:txBody>
      </p:sp>
      <p:sp>
        <p:nvSpPr>
          <p:cNvPr id="26" name="Feature 4 text"/>
          <p:cNvSpPr txBox="1"/>
          <p:nvPr/>
        </p:nvSpPr>
        <p:spPr>
          <a:xfrm>
            <a:off x="3246120" y="402336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as editable text and layers.</a:t>
            </a:r>
            <a:endParaRPr lang="en-US" sz="1100" dirty="0"/>
          </a:p>
        </p:txBody>
      </p:sp>
      <p:sp>
        <p:nvSpPr>
          <p:cNvPr id="27" name="Feature card 5"/>
          <p:cNvSpPr/>
          <p:nvPr/>
        </p:nvSpPr>
        <p:spPr>
          <a:xfrm>
            <a:off x="4983480" y="2971800"/>
            <a:ext cx="1737360" cy="1645920"/>
          </a:xfrm>
          <a:prstGeom prst="roundRect">
            <a:avLst>
              <a:gd name="adj" fmla="val 7778"/>
            </a:avLst>
          </a:prstGeom>
          <a:solidFill>
            <a:srgbClr val="FBF7EE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Feature 5 circle"/>
          <p:cNvSpPr/>
          <p:nvPr/>
        </p:nvSpPr>
        <p:spPr>
          <a:xfrm>
            <a:off x="5120640" y="3108960"/>
            <a:ext cx="420624" cy="420624"/>
          </a:xfrm>
          <a:prstGeom prst="ellipse">
            <a:avLst/>
          </a:prstGeom>
          <a:solidFill>
            <a:srgbClr val="1F3C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Feature 5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5796" y="3214116"/>
            <a:ext cx="210312" cy="210312"/>
          </a:xfrm>
          <a:prstGeom prst="rect">
            <a:avLst/>
          </a:prstGeom>
        </p:spPr>
      </p:pic>
      <p:sp>
        <p:nvSpPr>
          <p:cNvPr id="30" name="Feature 5 title"/>
          <p:cNvSpPr txBox="1"/>
          <p:nvPr/>
        </p:nvSpPr>
        <p:spPr>
          <a:xfrm>
            <a:off x="5120640" y="35935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brand guard</a:t>
            </a:r>
            <a:endParaRPr lang="en-US" sz="1300" dirty="0"/>
          </a:p>
        </p:txBody>
      </p:sp>
      <p:sp>
        <p:nvSpPr>
          <p:cNvPr id="31" name="Feature 5 text"/>
          <p:cNvSpPr txBox="1"/>
          <p:nvPr/>
        </p:nvSpPr>
        <p:spPr>
          <a:xfrm>
            <a:off x="5120640" y="402336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rules checked as you work. One-click Fix all.</a:t>
            </a:r>
            <a:endParaRPr lang="en-US" sz="1100" dirty="0"/>
          </a:p>
        </p:txBody>
      </p:sp>
      <p:sp>
        <p:nvSpPr>
          <p:cNvPr id="32" name="Feature card 6"/>
          <p:cNvSpPr/>
          <p:nvPr/>
        </p:nvSpPr>
        <p:spPr>
          <a:xfrm>
            <a:off x="6858000" y="2971800"/>
            <a:ext cx="1737360" cy="1645920"/>
          </a:xfrm>
          <a:prstGeom prst="roundRect">
            <a:avLst>
              <a:gd name="adj" fmla="val 7778"/>
            </a:avLst>
          </a:prstGeom>
          <a:solidFill>
            <a:srgbClr val="FBF7EE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Feature 6 circle"/>
          <p:cNvSpPr/>
          <p:nvPr/>
        </p:nvSpPr>
        <p:spPr>
          <a:xfrm>
            <a:off x="6995160" y="3108960"/>
            <a:ext cx="420624" cy="420624"/>
          </a:xfrm>
          <a:prstGeom prst="ellipse">
            <a:avLst/>
          </a:prstGeom>
          <a:solidFill>
            <a:srgbClr val="3A6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Feature 6 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0316" y="3214116"/>
            <a:ext cx="210312" cy="210312"/>
          </a:xfrm>
          <a:prstGeom prst="rect">
            <a:avLst/>
          </a:prstGeom>
        </p:spPr>
      </p:pic>
      <p:sp>
        <p:nvSpPr>
          <p:cNvPr id="35" name="Feature 6 title"/>
          <p:cNvSpPr txBox="1"/>
          <p:nvPr/>
        </p:nvSpPr>
        <p:spPr>
          <a:xfrm>
            <a:off x="6995160" y="35935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and export</a:t>
            </a:r>
            <a:endParaRPr lang="en-US" sz="1300" dirty="0"/>
          </a:p>
        </p:txBody>
      </p:sp>
      <p:sp>
        <p:nvSpPr>
          <p:cNvPr id="36" name="Feature 6 text"/>
          <p:cNvSpPr txBox="1"/>
          <p:nvPr/>
        </p:nvSpPr>
        <p:spPr>
          <a:xfrm>
            <a:off x="6995160" y="402336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4:5, 1:1, 9:16. PNG, JPG or editable JSON.</a:t>
            </a:r>
            <a:endParaRPr lang="en-US" sz="11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7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never places pixels</a:t>
            </a:r>
            <a:endParaRPr lang="en-US" sz="3400" dirty="0"/>
          </a:p>
        </p:txBody>
      </p:sp>
      <p:sp>
        <p:nvSpPr>
          <p:cNvPr id="3" name="Principle"/>
          <p:cNvSpPr txBox="1"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decides what to say (Slots) and what to change (Ops). Deterministic code decides where it goes.</a:t>
            </a:r>
            <a:endParaRPr lang="en-US" sz="1600" dirty="0"/>
          </a:p>
        </p:txBody>
      </p:sp>
      <p:sp>
        <p:nvSpPr>
          <p:cNvPr id="4" name="Arch box 1"/>
          <p:cNvSpPr/>
          <p:nvPr/>
        </p:nvSpPr>
        <p:spPr>
          <a:xfrm>
            <a:off x="457200" y="1783080"/>
            <a:ext cx="2468880" cy="1234440"/>
          </a:xfrm>
          <a:prstGeom prst="roundRect">
            <a:avLst>
              <a:gd name="adj" fmla="val 10370"/>
            </a:avLst>
          </a:prstGeom>
          <a:solidFill>
            <a:srgbClr val="1F3C88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Arch 1 title"/>
          <p:cNvSpPr txBox="1"/>
          <p:nvPr/>
        </p:nvSpPr>
        <p:spPr>
          <a:xfrm>
            <a:off x="640080" y="1920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editor</a:t>
            </a:r>
            <a:endParaRPr lang="en-US" sz="1600" dirty="0"/>
          </a:p>
        </p:txBody>
      </p:sp>
      <p:sp>
        <p:nvSpPr>
          <p:cNvPr id="6" name="Arch 1 text"/>
          <p:cNvSpPr txBox="1"/>
          <p:nvPr/>
        </p:nvSpPr>
        <p:spPr>
          <a:xfrm>
            <a:off x="640080" y="2286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Konva canvas with copilot chat</a:t>
            </a:r>
            <a:endParaRPr lang="en-US" sz="1200" dirty="0"/>
          </a:p>
        </p:txBody>
      </p:sp>
      <p:sp>
        <p:nvSpPr>
          <p:cNvPr id="7" name="Arrow 1"/>
          <p:cNvSpPr txBox="1"/>
          <p:nvPr/>
        </p:nvSpPr>
        <p:spPr>
          <a:xfrm>
            <a:off x="29260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8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Arch box 2"/>
          <p:cNvSpPr/>
          <p:nvPr/>
        </p:nvSpPr>
        <p:spPr>
          <a:xfrm>
            <a:off x="3383280" y="1783080"/>
            <a:ext cx="2468880" cy="1234440"/>
          </a:xfrm>
          <a:prstGeom prst="roundRect">
            <a:avLst>
              <a:gd name="adj" fmla="val 10370"/>
            </a:avLst>
          </a:prstGeom>
          <a:solidFill>
            <a:srgbClr val="3A66D4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Arch 2 title"/>
          <p:cNvSpPr txBox="1"/>
          <p:nvPr/>
        </p:nvSpPr>
        <p:spPr>
          <a:xfrm>
            <a:off x="3566160" y="1920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engine</a:t>
            </a:r>
            <a:endParaRPr lang="en-US" sz="1600" dirty="0"/>
          </a:p>
        </p:txBody>
      </p:sp>
      <p:sp>
        <p:nvSpPr>
          <p:cNvPr id="10" name="Arch 2 text"/>
          <p:cNvSpPr txBox="1"/>
          <p:nvPr/>
        </p:nvSpPr>
        <p:spPr>
          <a:xfrm>
            <a:off x="3566160" y="2286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templates, 18 brand rules, ops engine, shape-aware photo fit</a:t>
            </a:r>
            <a:endParaRPr lang="en-US" sz="1200" dirty="0"/>
          </a:p>
        </p:txBody>
      </p:sp>
      <p:sp>
        <p:nvSpPr>
          <p:cNvPr id="11" name="Arrow 2"/>
          <p:cNvSpPr txBox="1"/>
          <p:nvPr/>
        </p:nvSpPr>
        <p:spPr>
          <a:xfrm>
            <a:off x="58521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8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Arch box 3"/>
          <p:cNvSpPr/>
          <p:nvPr/>
        </p:nvSpPr>
        <p:spPr>
          <a:xfrm>
            <a:off x="6309360" y="1783080"/>
            <a:ext cx="2468880" cy="1234440"/>
          </a:xfrm>
          <a:prstGeom prst="roundRect">
            <a:avLst>
              <a:gd name="adj" fmla="val 10370"/>
            </a:avLst>
          </a:prstGeom>
          <a:solidFill>
            <a:srgbClr val="14284B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Arch 3 title"/>
          <p:cNvSpPr txBox="1"/>
          <p:nvPr/>
        </p:nvSpPr>
        <p:spPr>
          <a:xfrm>
            <a:off x="6492240" y="1920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backend</a:t>
            </a:r>
            <a:endParaRPr lang="en-US" sz="1600" dirty="0"/>
          </a:p>
        </p:txBody>
      </p:sp>
      <p:sp>
        <p:nvSpPr>
          <p:cNvPr id="14" name="Arch 3 text"/>
          <p:cNvSpPr txBox="1"/>
          <p:nvPr/>
        </p:nvSpPr>
        <p:spPr>
          <a:xfrm>
            <a:off x="6492240" y="2286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DeepSeek Pro + Flash, GPT Image Flare for photos only</a:t>
            </a:r>
            <a:endParaRPr lang="en-US" sz="1200" dirty="0"/>
          </a:p>
        </p:txBody>
      </p:sp>
      <p:sp>
        <p:nvSpPr>
          <p:cNvPr id="15" name="Stat 1"/>
          <p:cNvSpPr/>
          <p:nvPr/>
        </p:nvSpPr>
        <p:spPr>
          <a:xfrm>
            <a:off x="457200" y="3337560"/>
            <a:ext cx="1554480" cy="1280160"/>
          </a:xfrm>
          <a:prstGeom prst="roundRect">
            <a:avLst>
              <a:gd name="adj" fmla="val 10000"/>
            </a:avLst>
          </a:prstGeom>
          <a:solidFill>
            <a:srgbClr val="FBF7EE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tat 1 number"/>
          <p:cNvSpPr txBox="1"/>
          <p:nvPr/>
        </p:nvSpPr>
        <p:spPr>
          <a:xfrm>
            <a:off x="457200" y="3474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F3C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800" dirty="0"/>
          </a:p>
        </p:txBody>
      </p:sp>
      <p:sp>
        <p:nvSpPr>
          <p:cNvPr id="17" name="Stat 1 label"/>
          <p:cNvSpPr txBox="1"/>
          <p:nvPr/>
        </p:nvSpPr>
        <p:spPr>
          <a:xfrm>
            <a:off x="457200" y="4114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ads</a:t>
            </a:r>
            <a:endParaRPr lang="en-US" sz="1300" dirty="0"/>
          </a:p>
        </p:txBody>
      </p:sp>
      <p:sp>
        <p:nvSpPr>
          <p:cNvPr id="18" name="Stat 2"/>
          <p:cNvSpPr/>
          <p:nvPr/>
        </p:nvSpPr>
        <p:spPr>
          <a:xfrm>
            <a:off x="2121408" y="3337560"/>
            <a:ext cx="1554480" cy="1280160"/>
          </a:xfrm>
          <a:prstGeom prst="roundRect">
            <a:avLst>
              <a:gd name="adj" fmla="val 10000"/>
            </a:avLst>
          </a:prstGeom>
          <a:solidFill>
            <a:srgbClr val="FBF7EE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tat 2 number"/>
          <p:cNvSpPr txBox="1"/>
          <p:nvPr/>
        </p:nvSpPr>
        <p:spPr>
          <a:xfrm>
            <a:off x="2121408" y="3474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F3C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/>
          </a:p>
        </p:txBody>
      </p:sp>
      <p:sp>
        <p:nvSpPr>
          <p:cNvPr id="20" name="Stat 2 label"/>
          <p:cNvSpPr txBox="1"/>
          <p:nvPr/>
        </p:nvSpPr>
        <p:spPr>
          <a:xfrm>
            <a:off x="2121408" y="4114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300" dirty="0"/>
          </a:p>
        </p:txBody>
      </p:sp>
      <p:sp>
        <p:nvSpPr>
          <p:cNvPr id="21" name="Stat 3"/>
          <p:cNvSpPr/>
          <p:nvPr/>
        </p:nvSpPr>
        <p:spPr>
          <a:xfrm>
            <a:off x="3785616" y="3337560"/>
            <a:ext cx="1554480" cy="1280160"/>
          </a:xfrm>
          <a:prstGeom prst="roundRect">
            <a:avLst>
              <a:gd name="adj" fmla="val 10000"/>
            </a:avLst>
          </a:prstGeom>
          <a:solidFill>
            <a:srgbClr val="FBF7EE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tat 3 number"/>
          <p:cNvSpPr txBox="1"/>
          <p:nvPr/>
        </p:nvSpPr>
        <p:spPr>
          <a:xfrm>
            <a:off x="3785616" y="3474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F3C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800" dirty="0"/>
          </a:p>
        </p:txBody>
      </p:sp>
      <p:sp>
        <p:nvSpPr>
          <p:cNvPr id="23" name="Stat 3 label"/>
          <p:cNvSpPr txBox="1"/>
          <p:nvPr/>
        </p:nvSpPr>
        <p:spPr>
          <a:xfrm>
            <a:off x="3785616" y="4114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rules</a:t>
            </a:r>
            <a:endParaRPr lang="en-US" sz="1300" dirty="0"/>
          </a:p>
        </p:txBody>
      </p:sp>
      <p:sp>
        <p:nvSpPr>
          <p:cNvPr id="24" name="Stat 4"/>
          <p:cNvSpPr/>
          <p:nvPr/>
        </p:nvSpPr>
        <p:spPr>
          <a:xfrm>
            <a:off x="5449824" y="3337560"/>
            <a:ext cx="1554480" cy="1280160"/>
          </a:xfrm>
          <a:prstGeom prst="roundRect">
            <a:avLst>
              <a:gd name="adj" fmla="val 10000"/>
            </a:avLst>
          </a:prstGeom>
          <a:solidFill>
            <a:srgbClr val="FBF7EE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tat 4 number"/>
          <p:cNvSpPr txBox="1"/>
          <p:nvPr/>
        </p:nvSpPr>
        <p:spPr>
          <a:xfrm>
            <a:off x="5449824" y="3474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F3C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325</a:t>
            </a:r>
            <a:endParaRPr lang="en-US" sz="3800" dirty="0"/>
          </a:p>
        </p:txBody>
      </p:sp>
      <p:sp>
        <p:nvSpPr>
          <p:cNvPr id="26" name="Stat 4 label"/>
          <p:cNvSpPr txBox="1"/>
          <p:nvPr/>
        </p:nvSpPr>
        <p:spPr>
          <a:xfrm>
            <a:off x="5449824" y="4114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charms</a:t>
            </a:r>
            <a:endParaRPr lang="en-US" sz="1300" dirty="0"/>
          </a:p>
        </p:txBody>
      </p:sp>
      <p:sp>
        <p:nvSpPr>
          <p:cNvPr id="27" name="Stat 5"/>
          <p:cNvSpPr/>
          <p:nvPr/>
        </p:nvSpPr>
        <p:spPr>
          <a:xfrm>
            <a:off x="7114032" y="3337560"/>
            <a:ext cx="1554480" cy="1280160"/>
          </a:xfrm>
          <a:prstGeom prst="roundRect">
            <a:avLst>
              <a:gd name="adj" fmla="val 10000"/>
            </a:avLst>
          </a:prstGeom>
          <a:solidFill>
            <a:srgbClr val="FBF7EE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tat 5 number"/>
          <p:cNvSpPr txBox="1"/>
          <p:nvPr/>
        </p:nvSpPr>
        <p:spPr>
          <a:xfrm>
            <a:off x="7114032" y="3474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F3C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</a:t>
            </a:r>
            <a:endParaRPr lang="en-US" sz="3800" dirty="0"/>
          </a:p>
        </p:txBody>
      </p:sp>
      <p:sp>
        <p:nvSpPr>
          <p:cNvPr id="29" name="Stat 5 label"/>
          <p:cNvSpPr txBox="1"/>
          <p:nvPr/>
        </p:nvSpPr>
        <p:spPr>
          <a:xfrm>
            <a:off x="7114032" y="4114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7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4 different images like this</a:t>
            </a:r>
            <a:endParaRPr lang="en-US" sz="3400" dirty="0"/>
          </a:p>
        </p:txBody>
      </p:sp>
      <p:sp>
        <p:nvSpPr>
          <p:cNvPr id="3" name="Strip panel"/>
          <p:cNvSpPr/>
          <p:nvPr/>
        </p:nvSpPr>
        <p:spPr>
          <a:xfrm>
            <a:off x="457200" y="1143000"/>
            <a:ext cx="8229600" cy="2788920"/>
          </a:xfrm>
          <a:prstGeom prst="roundRect">
            <a:avLst>
              <a:gd name="adj" fmla="val 4590"/>
            </a:avLst>
          </a:prstGeom>
          <a:solidFill>
            <a:srgbClr val="14284B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Reference and four variations" descr="C:\Users\sreekar.paruchuru\AppData\Local\Temp\claude\c--Users-sreekar-paruchuru-Desktop-photoeditor\eaf3932d-2151-4196-8d11-1209a11209cf\scratchpad\assets_v2\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8046720" cy="2103120"/>
          </a:xfrm>
          <a:prstGeom prst="rect">
            <a:avLst/>
          </a:prstGeom>
        </p:spPr>
      </p:pic>
      <p:sp>
        <p:nvSpPr>
          <p:cNvPr id="5" name="Strip label 1"/>
          <p:cNvSpPr txBox="1"/>
          <p:nvPr/>
        </p:nvSpPr>
        <p:spPr>
          <a:xfrm>
            <a:off x="691763" y="3474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6" name="Strip label 2"/>
          <p:cNvSpPr txBox="1"/>
          <p:nvPr/>
        </p:nvSpPr>
        <p:spPr>
          <a:xfrm>
            <a:off x="2266122" y="3474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F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1</a:t>
            </a:r>
            <a:endParaRPr lang="en-US" sz="1300" dirty="0"/>
          </a:p>
        </p:txBody>
      </p:sp>
      <p:sp>
        <p:nvSpPr>
          <p:cNvPr id="7" name="Strip label 3"/>
          <p:cNvSpPr txBox="1"/>
          <p:nvPr/>
        </p:nvSpPr>
        <p:spPr>
          <a:xfrm>
            <a:off x="3840480" y="3474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F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2</a:t>
            </a:r>
            <a:endParaRPr lang="en-US" sz="1300" dirty="0"/>
          </a:p>
        </p:txBody>
      </p:sp>
      <p:sp>
        <p:nvSpPr>
          <p:cNvPr id="8" name="Strip label 4"/>
          <p:cNvSpPr txBox="1"/>
          <p:nvPr/>
        </p:nvSpPr>
        <p:spPr>
          <a:xfrm>
            <a:off x="5414838" y="3474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F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3</a:t>
            </a:r>
            <a:endParaRPr lang="en-US" sz="1300" dirty="0"/>
          </a:p>
        </p:txBody>
      </p:sp>
      <p:sp>
        <p:nvSpPr>
          <p:cNvPr id="9" name="Strip label 5"/>
          <p:cNvSpPr txBox="1"/>
          <p:nvPr/>
        </p:nvSpPr>
        <p:spPr>
          <a:xfrm>
            <a:off x="6989197" y="3474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F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4</a:t>
            </a:r>
            <a:endParaRPr lang="en-US" sz="1300" dirty="0"/>
          </a:p>
        </p:txBody>
      </p:sp>
      <p:sp>
        <p:nvSpPr>
          <p:cNvPr id="10" name="Caption 1 title"/>
          <p:cNvSpPr txBox="1"/>
          <p:nvPr/>
        </p:nvSpPr>
        <p:spPr>
          <a:xfrm>
            <a:off x="457200" y="4114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structure, new angles</a:t>
            </a:r>
            <a:endParaRPr lang="en-US" sz="1400" dirty="0"/>
          </a:p>
        </p:txBody>
      </p:sp>
      <p:sp>
        <p:nvSpPr>
          <p:cNvPr id="11" name="Caption 1 text"/>
          <p:cNvSpPr txBox="1"/>
          <p:nvPr/>
        </p:nvSpPr>
        <p:spPr>
          <a:xfrm>
            <a:off x="457200" y="44074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Copy, photo, colourway and layout change while brand rules hold.</a:t>
            </a:r>
            <a:endParaRPr lang="en-US" sz="1200" dirty="0"/>
          </a:p>
        </p:txBody>
      </p:sp>
      <p:sp>
        <p:nvSpPr>
          <p:cNvPr id="12" name="Caption 2 title"/>
          <p:cNvSpPr txBox="1"/>
          <p:nvPr/>
        </p:nvSpPr>
        <p:spPr>
          <a:xfrm>
            <a:off x="3246120" y="4114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is instant</a:t>
            </a:r>
            <a:endParaRPr lang="en-US" sz="1400" dirty="0"/>
          </a:p>
        </p:txBody>
      </p:sp>
      <p:sp>
        <p:nvSpPr>
          <p:cNvPr id="13" name="Caption 2 text"/>
          <p:cNvSpPr txBox="1"/>
          <p:nvPr/>
        </p:nvSpPr>
        <p:spPr>
          <a:xfrm>
            <a:off x="3246120" y="44074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 reference ads are stored as Slots. No AI call needed.</a:t>
            </a:r>
            <a:endParaRPr lang="en-US" sz="1200" dirty="0"/>
          </a:p>
        </p:txBody>
      </p:sp>
      <p:sp>
        <p:nvSpPr>
          <p:cNvPr id="14" name="Caption 3 title"/>
          <p:cNvSpPr txBox="1"/>
          <p:nvPr/>
        </p:nvSpPr>
        <p:spPr>
          <a:xfrm>
            <a:off x="6035040" y="4114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variation is editable</a:t>
            </a:r>
            <a:endParaRPr lang="en-US" sz="1400" dirty="0"/>
          </a:p>
        </p:txBody>
      </p:sp>
      <p:sp>
        <p:nvSpPr>
          <p:cNvPr id="15" name="Caption 3 text"/>
          <p:cNvSpPr txBox="1"/>
          <p:nvPr/>
        </p:nvSpPr>
        <p:spPr>
          <a:xfrm>
            <a:off x="6035040" y="44074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output is layered, never a flat image.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7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workflows, one toggle</a:t>
            </a:r>
            <a:endParaRPr lang="en-US" sz="3400" dirty="0"/>
          </a:p>
        </p:txBody>
      </p:sp>
      <p:sp>
        <p:nvSpPr>
          <p:cNvPr id="3" name="Direct label"/>
          <p:cNvSpPr/>
          <p:nvPr/>
        </p:nvSpPr>
        <p:spPr>
          <a:xfrm>
            <a:off x="457200" y="1143000"/>
            <a:ext cx="1737360" cy="1600200"/>
          </a:xfrm>
          <a:prstGeom prst="roundRect">
            <a:avLst>
              <a:gd name="adj" fmla="val 8000"/>
            </a:avLst>
          </a:prstGeom>
          <a:solidFill>
            <a:srgbClr val="AFC6F2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Direct title"/>
          <p:cNvSpPr txBox="1"/>
          <p:nvPr/>
        </p:nvSpPr>
        <p:spPr>
          <a:xfrm>
            <a:off x="594360" y="1280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</a:t>
            </a:r>
            <a:endParaRPr lang="en-US" sz="1700" dirty="0"/>
          </a:p>
        </p:txBody>
      </p:sp>
      <p:sp>
        <p:nvSpPr>
          <p:cNvPr id="5" name="Direct sub"/>
          <p:cNvSpPr txBox="1"/>
          <p:nvPr/>
        </p:nvSpPr>
        <p:spPr>
          <a:xfrm>
            <a:off x="594360" y="164592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Default. One message in, one model call, result on the canvas.</a:t>
            </a:r>
            <a:endParaRPr lang="en-US" sz="1200" dirty="0"/>
          </a:p>
        </p:txBody>
      </p:sp>
      <p:sp>
        <p:nvSpPr>
          <p:cNvPr id="6" name="Direct step 1"/>
          <p:cNvSpPr/>
          <p:nvPr/>
        </p:nvSpPr>
        <p:spPr>
          <a:xfrm>
            <a:off x="2331720" y="1143000"/>
            <a:ext cx="1444752" cy="1600200"/>
          </a:xfrm>
          <a:prstGeom prst="roundRect">
            <a:avLst>
              <a:gd name="adj" fmla="val 8861"/>
            </a:avLst>
          </a:prstGeom>
          <a:solidFill>
            <a:srgbClr val="FBF7EE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Direct badge 1"/>
          <p:cNvSpPr/>
          <p:nvPr/>
        </p:nvSpPr>
        <p:spPr>
          <a:xfrm>
            <a:off x="2441448" y="1261872"/>
            <a:ext cx="329184" cy="329184"/>
          </a:xfrm>
          <a:prstGeom prst="ellipse">
            <a:avLst/>
          </a:prstGeom>
          <a:solidFill>
            <a:srgbClr val="1F3C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Direct number 1"/>
          <p:cNvSpPr txBox="1"/>
          <p:nvPr/>
        </p:nvSpPr>
        <p:spPr>
          <a:xfrm>
            <a:off x="2441448" y="1261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Direct step title 1"/>
          <p:cNvSpPr txBox="1"/>
          <p:nvPr/>
        </p:nvSpPr>
        <p:spPr>
          <a:xfrm>
            <a:off x="2834640" y="12618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300" dirty="0"/>
          </a:p>
        </p:txBody>
      </p:sp>
      <p:sp>
        <p:nvSpPr>
          <p:cNvPr id="10" name="Direct step text 1"/>
          <p:cNvSpPr txBox="1"/>
          <p:nvPr/>
        </p:nvSpPr>
        <p:spPr>
          <a:xfrm>
            <a:off x="2441448" y="1673352"/>
            <a:ext cx="1243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in chat, or a chip like “Make it dark”</a:t>
            </a:r>
            <a:endParaRPr lang="en-US" sz="1100" dirty="0"/>
          </a:p>
        </p:txBody>
      </p:sp>
      <p:sp>
        <p:nvSpPr>
          <p:cNvPr id="11" name="Direct arrow 1"/>
          <p:cNvSpPr txBox="1"/>
          <p:nvPr/>
        </p:nvSpPr>
        <p:spPr>
          <a:xfrm>
            <a:off x="3776472" y="176022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8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Direct step 2"/>
          <p:cNvSpPr/>
          <p:nvPr/>
        </p:nvSpPr>
        <p:spPr>
          <a:xfrm>
            <a:off x="3950208" y="1143000"/>
            <a:ext cx="1444752" cy="1600200"/>
          </a:xfrm>
          <a:prstGeom prst="roundRect">
            <a:avLst>
              <a:gd name="adj" fmla="val 8861"/>
            </a:avLst>
          </a:prstGeom>
          <a:solidFill>
            <a:srgbClr val="FBF7EE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Direct badge 2"/>
          <p:cNvSpPr/>
          <p:nvPr/>
        </p:nvSpPr>
        <p:spPr>
          <a:xfrm>
            <a:off x="4059936" y="1261872"/>
            <a:ext cx="329184" cy="329184"/>
          </a:xfrm>
          <a:prstGeom prst="ellipse">
            <a:avLst/>
          </a:prstGeom>
          <a:solidFill>
            <a:srgbClr val="1F3C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Direct number 2"/>
          <p:cNvSpPr txBox="1"/>
          <p:nvPr/>
        </p:nvSpPr>
        <p:spPr>
          <a:xfrm>
            <a:off x="4059936" y="1261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Direct step title 2"/>
          <p:cNvSpPr txBox="1"/>
          <p:nvPr/>
        </p:nvSpPr>
        <p:spPr>
          <a:xfrm>
            <a:off x="4453128" y="12618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300" dirty="0"/>
          </a:p>
        </p:txBody>
      </p:sp>
      <p:sp>
        <p:nvSpPr>
          <p:cNvPr id="16" name="Direct step text 2"/>
          <p:cNvSpPr txBox="1"/>
          <p:nvPr/>
        </p:nvSpPr>
        <p:spPr>
          <a:xfrm>
            <a:off x="4059936" y="1673352"/>
            <a:ext cx="1243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rules pick new design, edit, resize or fix. No AI yet</a:t>
            </a:r>
            <a:endParaRPr lang="en-US" sz="1100" dirty="0"/>
          </a:p>
        </p:txBody>
      </p:sp>
      <p:sp>
        <p:nvSpPr>
          <p:cNvPr id="17" name="Direct arrow 2"/>
          <p:cNvSpPr txBox="1"/>
          <p:nvPr/>
        </p:nvSpPr>
        <p:spPr>
          <a:xfrm>
            <a:off x="5394960" y="176022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8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Direct step 3"/>
          <p:cNvSpPr/>
          <p:nvPr/>
        </p:nvSpPr>
        <p:spPr>
          <a:xfrm>
            <a:off x="5568696" y="1143000"/>
            <a:ext cx="1444752" cy="1600200"/>
          </a:xfrm>
          <a:prstGeom prst="roundRect">
            <a:avLst>
              <a:gd name="adj" fmla="val 8861"/>
            </a:avLst>
          </a:prstGeom>
          <a:solidFill>
            <a:srgbClr val="FBF7EE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Direct badge 3"/>
          <p:cNvSpPr/>
          <p:nvPr/>
        </p:nvSpPr>
        <p:spPr>
          <a:xfrm>
            <a:off x="5678424" y="1261872"/>
            <a:ext cx="329184" cy="329184"/>
          </a:xfrm>
          <a:prstGeom prst="ellipse">
            <a:avLst/>
          </a:prstGeom>
          <a:solidFill>
            <a:srgbClr val="1F3C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Direct number 3"/>
          <p:cNvSpPr txBox="1"/>
          <p:nvPr/>
        </p:nvSpPr>
        <p:spPr>
          <a:xfrm>
            <a:off x="5678424" y="1261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Direct step title 3"/>
          <p:cNvSpPr txBox="1"/>
          <p:nvPr/>
        </p:nvSpPr>
        <p:spPr>
          <a:xfrm>
            <a:off x="6071616" y="12618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</a:t>
            </a:r>
            <a:endParaRPr lang="en-US" sz="1300" dirty="0"/>
          </a:p>
        </p:txBody>
      </p:sp>
      <p:sp>
        <p:nvSpPr>
          <p:cNvPr id="22" name="Direct step text 3"/>
          <p:cNvSpPr txBox="1"/>
          <p:nvPr/>
        </p:nvSpPr>
        <p:spPr>
          <a:xfrm>
            <a:off x="5678424" y="1673352"/>
            <a:ext cx="1243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writes Slots for new ads; Flash returns Ops for edits</a:t>
            </a:r>
            <a:endParaRPr lang="en-US" sz="1100" dirty="0"/>
          </a:p>
        </p:txBody>
      </p:sp>
      <p:sp>
        <p:nvSpPr>
          <p:cNvPr id="23" name="Direct arrow 3"/>
          <p:cNvSpPr txBox="1"/>
          <p:nvPr/>
        </p:nvSpPr>
        <p:spPr>
          <a:xfrm>
            <a:off x="7013448" y="176022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8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Direct step 4"/>
          <p:cNvSpPr/>
          <p:nvPr/>
        </p:nvSpPr>
        <p:spPr>
          <a:xfrm>
            <a:off x="7187184" y="1143000"/>
            <a:ext cx="1444752" cy="1600200"/>
          </a:xfrm>
          <a:prstGeom prst="roundRect">
            <a:avLst>
              <a:gd name="adj" fmla="val 8861"/>
            </a:avLst>
          </a:prstGeom>
          <a:solidFill>
            <a:srgbClr val="FBF7EE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Direct badge 4"/>
          <p:cNvSpPr/>
          <p:nvPr/>
        </p:nvSpPr>
        <p:spPr>
          <a:xfrm>
            <a:off x="7296912" y="1261872"/>
            <a:ext cx="329184" cy="329184"/>
          </a:xfrm>
          <a:prstGeom prst="ellipse">
            <a:avLst/>
          </a:prstGeom>
          <a:solidFill>
            <a:srgbClr val="1F3C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Direct number 4"/>
          <p:cNvSpPr txBox="1"/>
          <p:nvPr/>
        </p:nvSpPr>
        <p:spPr>
          <a:xfrm>
            <a:off x="7296912" y="1261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Direct step title 4"/>
          <p:cNvSpPr txBox="1"/>
          <p:nvPr/>
        </p:nvSpPr>
        <p:spPr>
          <a:xfrm>
            <a:off x="7690104" y="12618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28" name="Direct step text 4"/>
          <p:cNvSpPr txBox="1"/>
          <p:nvPr/>
        </p:nvSpPr>
        <p:spPr>
          <a:xfrm>
            <a:off x="7296912" y="1673352"/>
            <a:ext cx="1243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code applies it: editable, undoable layers</a:t>
            </a:r>
            <a:endParaRPr lang="en-US" sz="1100" dirty="0"/>
          </a:p>
        </p:txBody>
      </p:sp>
      <p:sp>
        <p:nvSpPr>
          <p:cNvPr id="29" name="Agentic label"/>
          <p:cNvSpPr/>
          <p:nvPr/>
        </p:nvSpPr>
        <p:spPr>
          <a:xfrm>
            <a:off x="457200" y="2926080"/>
            <a:ext cx="1737360" cy="1783080"/>
          </a:xfrm>
          <a:prstGeom prst="roundRect">
            <a:avLst>
              <a:gd name="adj" fmla="val 7368"/>
            </a:avLst>
          </a:prstGeom>
          <a:solidFill>
            <a:srgbClr val="14284B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Agentic title"/>
          <p:cNvSpPr txBox="1"/>
          <p:nvPr/>
        </p:nvSpPr>
        <p:spPr>
          <a:xfrm>
            <a:off x="594360" y="3063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</a:t>
            </a:r>
            <a:endParaRPr lang="en-US" sz="1700" dirty="0"/>
          </a:p>
        </p:txBody>
      </p:sp>
      <p:sp>
        <p:nvSpPr>
          <p:cNvPr id="31" name="Agentic sub"/>
          <p:cNvSpPr txBox="1"/>
          <p:nvPr/>
        </p:nvSpPr>
        <p:spPr>
          <a:xfrm>
            <a:off x="594360" y="342900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toggle. Plans, builds, then checks its own work.</a:t>
            </a:r>
            <a:endParaRPr lang="en-US" sz="1200" dirty="0"/>
          </a:p>
        </p:txBody>
      </p:sp>
      <p:sp>
        <p:nvSpPr>
          <p:cNvPr id="32" name="Agentic step 1"/>
          <p:cNvSpPr/>
          <p:nvPr/>
        </p:nvSpPr>
        <p:spPr>
          <a:xfrm>
            <a:off x="2331720" y="2926080"/>
            <a:ext cx="1444752" cy="1783080"/>
          </a:xfrm>
          <a:prstGeom prst="roundRect">
            <a:avLst>
              <a:gd name="adj" fmla="val 8861"/>
            </a:avLst>
          </a:prstGeom>
          <a:solidFill>
            <a:srgbClr val="FBF7EE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Agentic badge 1"/>
          <p:cNvSpPr/>
          <p:nvPr/>
        </p:nvSpPr>
        <p:spPr>
          <a:xfrm>
            <a:off x="2441448" y="3044952"/>
            <a:ext cx="329184" cy="329184"/>
          </a:xfrm>
          <a:prstGeom prst="ellipse">
            <a:avLst/>
          </a:prstGeom>
          <a:solidFill>
            <a:srgbClr val="3A6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Agentic number 1"/>
          <p:cNvSpPr txBox="1"/>
          <p:nvPr/>
        </p:nvSpPr>
        <p:spPr>
          <a:xfrm>
            <a:off x="2441448" y="3044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35" name="Agentic step title 1"/>
          <p:cNvSpPr txBox="1"/>
          <p:nvPr/>
        </p:nvSpPr>
        <p:spPr>
          <a:xfrm>
            <a:off x="2834640" y="30449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36" name="Agentic step text 1"/>
          <p:cNvSpPr txBox="1"/>
          <p:nvPr/>
        </p:nvSpPr>
        <p:spPr>
          <a:xfrm>
            <a:off x="2441448" y="3456432"/>
            <a:ext cx="1243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 asks up to 3 one-click questions, or Just go</a:t>
            </a:r>
            <a:endParaRPr lang="en-US" sz="1100" dirty="0"/>
          </a:p>
        </p:txBody>
      </p:sp>
      <p:sp>
        <p:nvSpPr>
          <p:cNvPr id="37" name="Agentic arrow 1"/>
          <p:cNvSpPr txBox="1"/>
          <p:nvPr/>
        </p:nvSpPr>
        <p:spPr>
          <a:xfrm>
            <a:off x="3776472" y="363474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8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8" name="Agentic step 2"/>
          <p:cNvSpPr/>
          <p:nvPr/>
        </p:nvSpPr>
        <p:spPr>
          <a:xfrm>
            <a:off x="3950208" y="2926080"/>
            <a:ext cx="1444752" cy="1783080"/>
          </a:xfrm>
          <a:prstGeom prst="roundRect">
            <a:avLst>
              <a:gd name="adj" fmla="val 8861"/>
            </a:avLst>
          </a:prstGeom>
          <a:solidFill>
            <a:srgbClr val="FBF7EE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Agentic badge 2"/>
          <p:cNvSpPr/>
          <p:nvPr/>
        </p:nvSpPr>
        <p:spPr>
          <a:xfrm>
            <a:off x="4059936" y="3044952"/>
            <a:ext cx="329184" cy="329184"/>
          </a:xfrm>
          <a:prstGeom prst="ellipse">
            <a:avLst/>
          </a:prstGeom>
          <a:solidFill>
            <a:srgbClr val="3A6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Agentic number 2"/>
          <p:cNvSpPr txBox="1"/>
          <p:nvPr/>
        </p:nvSpPr>
        <p:spPr>
          <a:xfrm>
            <a:off x="4059936" y="3044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41" name="Agentic step title 2"/>
          <p:cNvSpPr txBox="1"/>
          <p:nvPr/>
        </p:nvSpPr>
        <p:spPr>
          <a:xfrm>
            <a:off x="4453128" y="30449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42" name="Agentic step text 2"/>
          <p:cNvSpPr txBox="1"/>
          <p:nvPr/>
        </p:nvSpPr>
        <p:spPr>
          <a:xfrm>
            <a:off x="4059936" y="3456432"/>
            <a:ext cx="1243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runs the Direct pipeline: create, vary, edit, resize</a:t>
            </a:r>
            <a:endParaRPr lang="en-US" sz="1100" dirty="0"/>
          </a:p>
        </p:txBody>
      </p:sp>
      <p:sp>
        <p:nvSpPr>
          <p:cNvPr id="43" name="Agentic arrow 2"/>
          <p:cNvSpPr txBox="1"/>
          <p:nvPr/>
        </p:nvSpPr>
        <p:spPr>
          <a:xfrm>
            <a:off x="5394960" y="363474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8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44" name="Agentic step 3"/>
          <p:cNvSpPr/>
          <p:nvPr/>
        </p:nvSpPr>
        <p:spPr>
          <a:xfrm>
            <a:off x="5568696" y="2926080"/>
            <a:ext cx="1444752" cy="1783080"/>
          </a:xfrm>
          <a:prstGeom prst="roundRect">
            <a:avLst>
              <a:gd name="adj" fmla="val 8861"/>
            </a:avLst>
          </a:prstGeom>
          <a:solidFill>
            <a:srgbClr val="FBF7EE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Agentic badge 3"/>
          <p:cNvSpPr/>
          <p:nvPr/>
        </p:nvSpPr>
        <p:spPr>
          <a:xfrm>
            <a:off x="5678424" y="3044952"/>
            <a:ext cx="329184" cy="329184"/>
          </a:xfrm>
          <a:prstGeom prst="ellipse">
            <a:avLst/>
          </a:prstGeom>
          <a:solidFill>
            <a:srgbClr val="3A6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Agentic number 3"/>
          <p:cNvSpPr txBox="1"/>
          <p:nvPr/>
        </p:nvSpPr>
        <p:spPr>
          <a:xfrm>
            <a:off x="5678424" y="3044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47" name="Agentic step title 3"/>
          <p:cNvSpPr txBox="1"/>
          <p:nvPr/>
        </p:nvSpPr>
        <p:spPr>
          <a:xfrm>
            <a:off x="6071616" y="30449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48" name="Agentic step text 3"/>
          <p:cNvSpPr txBox="1"/>
          <p:nvPr/>
        </p:nvSpPr>
        <p:spPr>
          <a:xfrm>
            <a:off x="5678424" y="3456432"/>
            <a:ext cx="1243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Director renders, scores with vision, fixes, keeps the best</a:t>
            </a:r>
            <a:endParaRPr lang="en-US" sz="1100" dirty="0"/>
          </a:p>
        </p:txBody>
      </p:sp>
      <p:sp>
        <p:nvSpPr>
          <p:cNvPr id="49" name="Agentic arrow 3"/>
          <p:cNvSpPr txBox="1"/>
          <p:nvPr/>
        </p:nvSpPr>
        <p:spPr>
          <a:xfrm>
            <a:off x="7013448" y="363474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8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50" name="Agentic step 4"/>
          <p:cNvSpPr/>
          <p:nvPr/>
        </p:nvSpPr>
        <p:spPr>
          <a:xfrm>
            <a:off x="7187184" y="2926080"/>
            <a:ext cx="1444752" cy="1783080"/>
          </a:xfrm>
          <a:prstGeom prst="roundRect">
            <a:avLst>
              <a:gd name="adj" fmla="val 8861"/>
            </a:avLst>
          </a:prstGeom>
          <a:solidFill>
            <a:srgbClr val="FBF7EE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Agentic badge 4"/>
          <p:cNvSpPr/>
          <p:nvPr/>
        </p:nvSpPr>
        <p:spPr>
          <a:xfrm>
            <a:off x="7296912" y="3044952"/>
            <a:ext cx="329184" cy="329184"/>
          </a:xfrm>
          <a:prstGeom prst="ellipse">
            <a:avLst/>
          </a:prstGeom>
          <a:solidFill>
            <a:srgbClr val="3A6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Agentic number 4"/>
          <p:cNvSpPr txBox="1"/>
          <p:nvPr/>
        </p:nvSpPr>
        <p:spPr>
          <a:xfrm>
            <a:off x="7296912" y="3044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53" name="Agentic step title 4"/>
          <p:cNvSpPr txBox="1"/>
          <p:nvPr/>
        </p:nvSpPr>
        <p:spPr>
          <a:xfrm>
            <a:off x="7690104" y="30449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</a:t>
            </a:r>
            <a:endParaRPr lang="en-US" sz="1300" dirty="0"/>
          </a:p>
        </p:txBody>
      </p:sp>
      <p:sp>
        <p:nvSpPr>
          <p:cNvPr id="54" name="Agentic step text 4"/>
          <p:cNvSpPr txBox="1"/>
          <p:nvPr/>
        </p:nvSpPr>
        <p:spPr>
          <a:xfrm>
            <a:off x="7296912" y="3456432"/>
            <a:ext cx="1243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to 3 next-step chips tailored to the result</a:t>
            </a:r>
            <a:endParaRPr lang="en-US" sz="110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7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need both</a:t>
            </a:r>
            <a:endParaRPr lang="en-US" sz="3400" dirty="0"/>
          </a:p>
        </p:txBody>
      </p:sp>
      <p:graphicFrame>
        <p:nvGraphicFramePr>
          <p:cNvPr id="7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394960" cy="3273552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8B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Planner, build, then a vision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8B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a review of up to 45 s per 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Vague brief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8B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Acts on what it is given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Asks first, one round at most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its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8B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brand rules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rules plus vision critique, keep-best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8B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asks, quick edits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Campaigns, multi-step, unclear briefs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Why card"/>
          <p:cNvSpPr/>
          <p:nvPr/>
        </p:nvSpPr>
        <p:spPr>
          <a:xfrm>
            <a:off x="6035040" y="1188720"/>
            <a:ext cx="2651760" cy="3611880"/>
          </a:xfrm>
          <a:prstGeom prst="roundRect">
            <a:avLst>
              <a:gd name="adj" fmla="val 4828"/>
            </a:avLst>
          </a:prstGeom>
          <a:solidFill>
            <a:srgbClr val="14284B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Why label"/>
          <p:cNvSpPr txBox="1"/>
          <p:nvPr/>
        </p:nvSpPr>
        <p:spPr>
          <a:xfrm>
            <a:off x="6217920" y="1353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F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ONE?</a:t>
            </a:r>
            <a:endParaRPr lang="en-US" sz="1100" dirty="0"/>
          </a:p>
        </p:txBody>
      </p:sp>
      <p:sp>
        <p:nvSpPr>
          <p:cNvPr id="6" name="Why list"/>
          <p:cNvSpPr txBox="1"/>
          <p:nvPr/>
        </p:nvSpPr>
        <p:spPr>
          <a:xfrm>
            <a:off x="6217920" y="1719072"/>
            <a:ext cx="22860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and cost: a clear request should not wait for a review or extra model calls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Trust: the designer opts in. With Agent off, behaviour is exactly the plain editor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net: if the planner fails, the agent hands over to Direct, so an edit never blocks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only vague or multi-step work needs questions and self-review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7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creative team inside the editor</a:t>
            </a:r>
            <a:endParaRPr lang="en-US" sz="3400" dirty="0"/>
          </a:p>
        </p:txBody>
      </p:sp>
      <p:sp>
        <p:nvSpPr>
          <p:cNvPr id="3" name="Role card 1"/>
          <p:cNvSpPr/>
          <p:nvPr/>
        </p:nvSpPr>
        <p:spPr>
          <a:xfrm>
            <a:off x="457200" y="1143000"/>
            <a:ext cx="5029200" cy="969264"/>
          </a:xfrm>
          <a:prstGeom prst="roundRect">
            <a:avLst>
              <a:gd name="adj" fmla="val 13208"/>
            </a:avLst>
          </a:prstGeom>
          <a:solidFill>
            <a:srgbClr val="FBF7EE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Role 1 circle"/>
          <p:cNvSpPr/>
          <p:nvPr/>
        </p:nvSpPr>
        <p:spPr>
          <a:xfrm>
            <a:off x="640080" y="1399032"/>
            <a:ext cx="457200" cy="457200"/>
          </a:xfrm>
          <a:prstGeom prst="ellipse">
            <a:avLst/>
          </a:prstGeom>
          <a:solidFill>
            <a:srgbClr val="1F3C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Role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513332"/>
            <a:ext cx="228600" cy="228600"/>
          </a:xfrm>
          <a:prstGeom prst="rect">
            <a:avLst/>
          </a:prstGeom>
        </p:spPr>
      </p:pic>
      <p:sp>
        <p:nvSpPr>
          <p:cNvPr id="6" name="Role 1 title"/>
          <p:cNvSpPr txBox="1"/>
          <p:nvPr/>
        </p:nvSpPr>
        <p:spPr>
          <a:xfrm>
            <a:off x="1280160" y="12801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Strategist</a:t>
            </a:r>
            <a:endParaRPr lang="en-US" sz="1800" dirty="0"/>
          </a:p>
        </p:txBody>
      </p:sp>
      <p:sp>
        <p:nvSpPr>
          <p:cNvPr id="7" name="Role 1 text"/>
          <p:cNvSpPr txBox="1"/>
          <p:nvPr/>
        </p:nvSpPr>
        <p:spPr>
          <a:xfrm>
            <a:off x="1280160" y="1600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brief · asks what is missing · sets the must-haves</a:t>
            </a:r>
            <a:endParaRPr lang="en-US" sz="1200" dirty="0"/>
          </a:p>
        </p:txBody>
      </p:sp>
      <p:sp>
        <p:nvSpPr>
          <p:cNvPr id="8" name="Role card 2"/>
          <p:cNvSpPr/>
          <p:nvPr/>
        </p:nvSpPr>
        <p:spPr>
          <a:xfrm>
            <a:off x="457200" y="2221992"/>
            <a:ext cx="5029200" cy="969264"/>
          </a:xfrm>
          <a:prstGeom prst="roundRect">
            <a:avLst>
              <a:gd name="adj" fmla="val 13208"/>
            </a:avLst>
          </a:prstGeom>
          <a:solidFill>
            <a:srgbClr val="FBF7EE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Role 2 circle"/>
          <p:cNvSpPr/>
          <p:nvPr/>
        </p:nvSpPr>
        <p:spPr>
          <a:xfrm>
            <a:off x="640080" y="2478024"/>
            <a:ext cx="457200" cy="457200"/>
          </a:xfrm>
          <a:prstGeom prst="ellipse">
            <a:avLst/>
          </a:prstGeom>
          <a:solidFill>
            <a:srgbClr val="3A6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Role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2592324"/>
            <a:ext cx="228600" cy="228600"/>
          </a:xfrm>
          <a:prstGeom prst="rect">
            <a:avLst/>
          </a:prstGeom>
        </p:spPr>
      </p:pic>
      <p:sp>
        <p:nvSpPr>
          <p:cNvPr id="11" name="Role 2 title"/>
          <p:cNvSpPr txBox="1"/>
          <p:nvPr/>
        </p:nvSpPr>
        <p:spPr>
          <a:xfrm>
            <a:off x="1280160" y="23591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Producer</a:t>
            </a:r>
            <a:endParaRPr lang="en-US" sz="1800" dirty="0"/>
          </a:p>
        </p:txBody>
      </p:sp>
      <p:sp>
        <p:nvSpPr>
          <p:cNvPr id="12" name="Role 2 text"/>
          <p:cNvSpPr txBox="1"/>
          <p:nvPr/>
        </p:nvSpPr>
        <p:spPr>
          <a:xfrm>
            <a:off x="1280160" y="26791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copy · builds editable layers · makes themed photos</a:t>
            </a:r>
            <a:endParaRPr lang="en-US" sz="1200" dirty="0"/>
          </a:p>
        </p:txBody>
      </p:sp>
      <p:sp>
        <p:nvSpPr>
          <p:cNvPr id="13" name="Role card 3"/>
          <p:cNvSpPr/>
          <p:nvPr/>
        </p:nvSpPr>
        <p:spPr>
          <a:xfrm>
            <a:off x="457200" y="3300984"/>
            <a:ext cx="5029200" cy="969264"/>
          </a:xfrm>
          <a:prstGeom prst="roundRect">
            <a:avLst>
              <a:gd name="adj" fmla="val 13208"/>
            </a:avLst>
          </a:prstGeom>
          <a:solidFill>
            <a:srgbClr val="FBF7EE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Role 3 circle"/>
          <p:cNvSpPr/>
          <p:nvPr/>
        </p:nvSpPr>
        <p:spPr>
          <a:xfrm>
            <a:off x="640080" y="3557016"/>
            <a:ext cx="457200" cy="457200"/>
          </a:xfrm>
          <a:prstGeom prst="ellipse">
            <a:avLst/>
          </a:prstGeom>
          <a:solidFill>
            <a:srgbClr val="1428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Role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3671316"/>
            <a:ext cx="228600" cy="228600"/>
          </a:xfrm>
          <a:prstGeom prst="rect">
            <a:avLst/>
          </a:prstGeom>
        </p:spPr>
      </p:pic>
      <p:sp>
        <p:nvSpPr>
          <p:cNvPr id="16" name="Role 3 title"/>
          <p:cNvSpPr txBox="1"/>
          <p:nvPr/>
        </p:nvSpPr>
        <p:spPr>
          <a:xfrm>
            <a:off x="1280160" y="34381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 Director</a:t>
            </a:r>
            <a:endParaRPr lang="en-US" sz="1800" dirty="0"/>
          </a:p>
        </p:txBody>
      </p:sp>
      <p:sp>
        <p:nvSpPr>
          <p:cNvPr id="17" name="Role 3 text"/>
          <p:cNvSpPr txBox="1"/>
          <p:nvPr/>
        </p:nvSpPr>
        <p:spPr>
          <a:xfrm>
            <a:off x="1280160" y="375818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designs · scores with vision · fixes, keeps the best</a:t>
            </a:r>
            <a:endParaRPr lang="en-US" sz="1200" dirty="0"/>
          </a:p>
        </p:txBody>
      </p:sp>
      <p:sp>
        <p:nvSpPr>
          <p:cNvPr id="18" name="Credit"/>
          <p:cNvSpPr txBox="1"/>
          <p:nvPr/>
        </p:nvSpPr>
        <p:spPr>
          <a:xfrm>
            <a:off x="457200" y="44165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GetCrux's Creative Strategist and Creative Producer. We added the Art Director as the quality gate. Every run starts from a Brand Kit card: typography, colours, icons, illustrations.</a:t>
            </a:r>
            <a:endParaRPr lang="en-US" sz="1100" dirty="0"/>
          </a:p>
        </p:txBody>
      </p:sp>
      <p:pic>
        <p:nvPicPr>
          <p:cNvPr id="19" name="Real Strategist questions screenshot" descr="C:\Users\sreekar.paruchuru\AppData\Local\Temp\claude\c--Users-sreekar-paruchuru-Desktop-photoeditor\eaf3932d-2151-4196-8d11-1209a11209cf\scratchpad\assets_v2\te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1051560"/>
            <a:ext cx="2926080" cy="371246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7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Quality, measured</a:t>
            </a:r>
            <a:endParaRPr lang="en-US" sz="3400" dirty="0"/>
          </a:p>
        </p:txBody>
      </p:sp>
      <p:sp>
        <p:nvSpPr>
          <p:cNvPr id="3" name="Loop card"/>
          <p:cNvSpPr/>
          <p:nvPr/>
        </p:nvSpPr>
        <p:spPr>
          <a:xfrm>
            <a:off x="457200" y="1143000"/>
            <a:ext cx="2926080" cy="3611880"/>
          </a:xfrm>
          <a:prstGeom prst="roundRect">
            <a:avLst>
              <a:gd name="adj" fmla="val 4375"/>
            </a:avLst>
          </a:prstGeom>
          <a:solidFill>
            <a:srgbClr val="14284B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Loop label"/>
          <p:cNvSpPr txBox="1"/>
          <p:nvPr/>
        </p:nvSpPr>
        <p:spPr>
          <a:xfrm>
            <a:off x="685800" y="1325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F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SCORING LOOP</a:t>
            </a:r>
            <a:endParaRPr lang="en-US" sz="1200" dirty="0"/>
          </a:p>
        </p:txBody>
      </p:sp>
      <p:sp>
        <p:nvSpPr>
          <p:cNvPr id="5" name="Loop step 1"/>
          <p:cNvSpPr txBox="1"/>
          <p:nvPr/>
        </p:nvSpPr>
        <p:spPr>
          <a:xfrm>
            <a:off x="68580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Generate on-brand concepts</a:t>
            </a:r>
            <a:endParaRPr lang="en-US" sz="1300" dirty="0"/>
          </a:p>
        </p:txBody>
      </p:sp>
      <p:sp>
        <p:nvSpPr>
          <p:cNvPr id="6" name="Loop step 2"/>
          <p:cNvSpPr txBox="1"/>
          <p:nvPr/>
        </p:nvSpPr>
        <p:spPr>
          <a:xfrm>
            <a:off x="685800" y="2148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Critique: must-haves and brand rules</a:t>
            </a:r>
            <a:endParaRPr lang="en-US" sz="1300" dirty="0"/>
          </a:p>
        </p:txBody>
      </p:sp>
      <p:sp>
        <p:nvSpPr>
          <p:cNvPr id="7" name="Loop step 3"/>
          <p:cNvSpPr txBox="1"/>
          <p:nvPr/>
        </p:nvSpPr>
        <p:spPr>
          <a:xfrm>
            <a:off x="685800" y="2606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Score, fix, re-score</a:t>
            </a:r>
            <a:endParaRPr lang="en-US" sz="1300" dirty="0"/>
          </a:p>
        </p:txBody>
      </p:sp>
      <p:sp>
        <p:nvSpPr>
          <p:cNvPr id="8" name="Formula box"/>
          <p:cNvSpPr/>
          <p:nvPr/>
        </p:nvSpPr>
        <p:spPr>
          <a:xfrm>
            <a:off x="685800" y="3154680"/>
            <a:ext cx="2468880" cy="1417320"/>
          </a:xfrm>
          <a:prstGeom prst="roundRect">
            <a:avLst>
              <a:gd name="adj" fmla="val 9032"/>
            </a:avLst>
          </a:prstGeom>
          <a:solidFill>
            <a:srgbClr val="F4EC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Formula title"/>
          <p:cNvSpPr txBox="1"/>
          <p:nvPr/>
        </p:nvSpPr>
        <p:spPr>
          <a:xfrm>
            <a:off x="868680" y="32735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8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0" name="Formula"/>
          <p:cNvSpPr txBox="1"/>
          <p:nvPr/>
        </p:nvSpPr>
        <p:spPr>
          <a:xfrm>
            <a:off x="868680" y="35478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vision score − 8 per brand error − 3 per brand warning</a:t>
            </a:r>
            <a:endParaRPr lang="en-US" sz="1300" dirty="0"/>
          </a:p>
        </p:txBody>
      </p:sp>
      <p:sp>
        <p:nvSpPr>
          <p:cNvPr id="11" name="Pass"/>
          <p:cNvSpPr txBox="1"/>
          <p:nvPr/>
        </p:nvSpPr>
        <p:spPr>
          <a:xfrm>
            <a:off x="868680" y="4187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C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at 85</a:t>
            </a:r>
            <a:endParaRPr lang="en-US" sz="1600" dirty="0"/>
          </a:p>
        </p:txBody>
      </p:sp>
      <p:sp>
        <p:nvSpPr>
          <p:cNvPr id="12" name="Real run label"/>
          <p:cNvSpPr txBox="1"/>
          <p:nvPr/>
        </p:nvSpPr>
        <p:spPr>
          <a:xfrm>
            <a:off x="3611880" y="114300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8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RUN: CHRISTMAS CAMPAIGN FOR LOCAL BUSINESSES</a:t>
            </a:r>
            <a:endParaRPr lang="en-US" sz="1100" dirty="0"/>
          </a:p>
        </p:txBody>
      </p:sp>
      <p:pic>
        <p:nvPicPr>
          <p:cNvPr id="13" name="Three real Christmas ads" descr="C:\Users\sreekar.paruchuru\AppData\Local\Temp\claude\c--Users-sreekar-paruchuru-Desktop-photoeditor\eaf3932d-2151-4196-8d11-1209a11209cf\scratchpad\assets_v2\xm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417320"/>
            <a:ext cx="5166360" cy="2203704"/>
          </a:xfrm>
          <a:prstGeom prst="rect">
            <a:avLst/>
          </a:prstGeom>
        </p:spPr>
      </p:pic>
      <p:sp>
        <p:nvSpPr>
          <p:cNvPr id="14" name="Score label 1"/>
          <p:cNvSpPr txBox="1"/>
          <p:nvPr/>
        </p:nvSpPr>
        <p:spPr>
          <a:xfrm>
            <a:off x="3599404" y="36393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 · 88 pass</a:t>
            </a:r>
            <a:endParaRPr lang="en-US" sz="1200" dirty="0"/>
          </a:p>
        </p:txBody>
      </p:sp>
      <p:sp>
        <p:nvSpPr>
          <p:cNvPr id="15" name="Score label 2"/>
          <p:cNvSpPr txBox="1"/>
          <p:nvPr/>
        </p:nvSpPr>
        <p:spPr>
          <a:xfrm>
            <a:off x="5280660" y="36393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6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Florist · 58 → 72</a:t>
            </a:r>
            <a:endParaRPr lang="en-US" sz="1200" dirty="0"/>
          </a:p>
        </p:txBody>
      </p:sp>
      <p:sp>
        <p:nvSpPr>
          <p:cNvPr id="16" name="Score label 3"/>
          <p:cNvSpPr txBox="1"/>
          <p:nvPr/>
        </p:nvSpPr>
        <p:spPr>
          <a:xfrm>
            <a:off x="6961916" y="36393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8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· 62 flagged</a:t>
            </a:r>
            <a:endParaRPr lang="en-US" sz="1200" dirty="0"/>
          </a:p>
        </p:txBody>
      </p:sp>
      <p:sp>
        <p:nvSpPr>
          <p:cNvPr id="17" name="Learned card"/>
          <p:cNvSpPr/>
          <p:nvPr/>
        </p:nvSpPr>
        <p:spPr>
          <a:xfrm>
            <a:off x="3566160" y="3931920"/>
            <a:ext cx="5120640" cy="868680"/>
          </a:xfrm>
          <a:prstGeom prst="roundRect">
            <a:avLst>
              <a:gd name="adj" fmla="val 14737"/>
            </a:avLst>
          </a:prstGeom>
          <a:solidFill>
            <a:srgbClr val="FBF7EE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Learned text"/>
          <p:cNvSpPr txBox="1"/>
          <p:nvPr/>
        </p:nvSpPr>
        <p:spPr>
          <a:xfrm>
            <a:off x="3703320" y="3986784"/>
            <a:ext cx="4846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learned: </a:t>
            </a:r>
            <a:r>
              <a:rPr lang="en-US" sz="11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 passed every design, but Christmas was only in the copy. Now the critic checks each must-have, and a miss forces a themed photo. Photos are fitted to their shape: the whole head stays visible, or the mask switches, or the photo is regenerated.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7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by design, nothing good lost</a:t>
            </a:r>
            <a:endParaRPr lang="en-US" sz="3400" dirty="0"/>
          </a:p>
        </p:txBody>
      </p:sp>
      <p:sp>
        <p:nvSpPr>
          <p:cNvPr id="3" name="Guardrails label"/>
          <p:cNvSpPr txBox="1"/>
          <p:nvPr/>
        </p:nvSpPr>
        <p:spPr>
          <a:xfrm>
            <a:off x="45720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8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4" name="Guardrail 1"/>
          <p:cNvSpPr/>
          <p:nvPr/>
        </p:nvSpPr>
        <p:spPr>
          <a:xfrm>
            <a:off x="457200" y="1463040"/>
            <a:ext cx="4206240" cy="566928"/>
          </a:xfrm>
          <a:prstGeom prst="roundRect">
            <a:avLst>
              <a:gd name="adj" fmla="val 22581"/>
            </a:avLst>
          </a:prstGeom>
          <a:solidFill>
            <a:srgbClr val="FBF7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Guardrail 1 num"/>
          <p:cNvSpPr txBox="1"/>
          <p:nvPr/>
        </p:nvSpPr>
        <p:spPr>
          <a:xfrm>
            <a:off x="548640" y="14630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A6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Guardrail 1 text"/>
          <p:cNvSpPr txBox="1"/>
          <p:nvPr/>
        </p:nvSpPr>
        <p:spPr>
          <a:xfrm>
            <a:off x="1005840" y="146304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guard: </a:t>
            </a:r>
            <a:r>
              <a:rPr lang="en-US" sz="11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live rules; every agent fix passes auto-fix</a:t>
            </a:r>
            <a:endParaRPr lang="en-US" sz="1100" dirty="0"/>
          </a:p>
        </p:txBody>
      </p:sp>
      <p:sp>
        <p:nvSpPr>
          <p:cNvPr id="7" name="Guardrail 2"/>
          <p:cNvSpPr/>
          <p:nvPr/>
        </p:nvSpPr>
        <p:spPr>
          <a:xfrm>
            <a:off x="457200" y="2103120"/>
            <a:ext cx="4206240" cy="566928"/>
          </a:xfrm>
          <a:prstGeom prst="roundRect">
            <a:avLst>
              <a:gd name="adj" fmla="val 22581"/>
            </a:avLst>
          </a:prstGeom>
          <a:solidFill>
            <a:srgbClr val="FBF7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Guardrail 2 num"/>
          <p:cNvSpPr txBox="1"/>
          <p:nvPr/>
        </p:nvSpPr>
        <p:spPr>
          <a:xfrm>
            <a:off x="548640" y="21031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A6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Guardrail 2 text"/>
          <p:cNvSpPr txBox="1"/>
          <p:nvPr/>
        </p:nvSpPr>
        <p:spPr>
          <a:xfrm>
            <a:off x="1005840" y="21031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checks: </a:t>
            </a:r>
            <a:r>
              <a:rPr lang="en-US" sz="11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Schema-validated JSON plus a repair pass for copied, over-long or invented claims</a:t>
            </a:r>
            <a:endParaRPr lang="en-US" sz="1100" dirty="0"/>
          </a:p>
        </p:txBody>
      </p:sp>
      <p:sp>
        <p:nvSpPr>
          <p:cNvPr id="10" name="Guardrail 3"/>
          <p:cNvSpPr/>
          <p:nvPr/>
        </p:nvSpPr>
        <p:spPr>
          <a:xfrm>
            <a:off x="457200" y="2743200"/>
            <a:ext cx="4206240" cy="566928"/>
          </a:xfrm>
          <a:prstGeom prst="roundRect">
            <a:avLst>
              <a:gd name="adj" fmla="val 22581"/>
            </a:avLst>
          </a:prstGeom>
          <a:solidFill>
            <a:srgbClr val="FBF7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Guardrail 3 num"/>
          <p:cNvSpPr txBox="1"/>
          <p:nvPr/>
        </p:nvSpPr>
        <p:spPr>
          <a:xfrm>
            <a:off x="548640" y="27432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A6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Guardrail 3 text"/>
          <p:cNvSpPr txBox="1"/>
          <p:nvPr/>
        </p:nvSpPr>
        <p:spPr>
          <a:xfrm>
            <a:off x="1005840" y="27432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Off-brand asks: </a:t>
            </a:r>
            <a:r>
              <a:rPr lang="en-US" sz="11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text? Declined, with an on-brand alternative</a:t>
            </a:r>
            <a:endParaRPr lang="en-US" sz="1100" dirty="0"/>
          </a:p>
        </p:txBody>
      </p:sp>
      <p:sp>
        <p:nvSpPr>
          <p:cNvPr id="13" name="Guardrail 4"/>
          <p:cNvSpPr/>
          <p:nvPr/>
        </p:nvSpPr>
        <p:spPr>
          <a:xfrm>
            <a:off x="457200" y="3383280"/>
            <a:ext cx="4206240" cy="566928"/>
          </a:xfrm>
          <a:prstGeom prst="roundRect">
            <a:avLst>
              <a:gd name="adj" fmla="val 22581"/>
            </a:avLst>
          </a:prstGeom>
          <a:solidFill>
            <a:srgbClr val="FBF7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Guardrail 4 num"/>
          <p:cNvSpPr txBox="1"/>
          <p:nvPr/>
        </p:nvSpPr>
        <p:spPr>
          <a:xfrm>
            <a:off x="548640" y="338328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A6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Guardrail 4 text"/>
          <p:cNvSpPr txBox="1"/>
          <p:nvPr/>
        </p:nvSpPr>
        <p:spPr>
          <a:xfrm>
            <a:off x="1005840" y="33832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limits: </a:t>
            </a:r>
            <a:r>
              <a:rPr lang="en-US" sz="11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question round, 2 review rounds, 45 s per design, max 8 designs</a:t>
            </a:r>
            <a:endParaRPr lang="en-US" sz="1100" dirty="0"/>
          </a:p>
        </p:txBody>
      </p:sp>
      <p:sp>
        <p:nvSpPr>
          <p:cNvPr id="16" name="Guardrail 5"/>
          <p:cNvSpPr/>
          <p:nvPr/>
        </p:nvSpPr>
        <p:spPr>
          <a:xfrm>
            <a:off x="457200" y="4023360"/>
            <a:ext cx="4206240" cy="566928"/>
          </a:xfrm>
          <a:prstGeom prst="roundRect">
            <a:avLst>
              <a:gd name="adj" fmla="val 22581"/>
            </a:avLst>
          </a:prstGeom>
          <a:solidFill>
            <a:srgbClr val="FBF7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Guardrail 5 num"/>
          <p:cNvSpPr txBox="1"/>
          <p:nvPr/>
        </p:nvSpPr>
        <p:spPr>
          <a:xfrm>
            <a:off x="548640" y="402336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A6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Guardrail 5 text"/>
          <p:cNvSpPr txBox="1"/>
          <p:nvPr/>
        </p:nvSpPr>
        <p:spPr>
          <a:xfrm>
            <a:off x="1005840" y="40233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 </a:t>
            </a:r>
            <a:r>
              <a:rPr lang="en-US" sz="11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with backoff; Pro and Flash cover for each other</a:t>
            </a:r>
            <a:endParaRPr lang="en-US" sz="1100" dirty="0"/>
          </a:p>
        </p:txBody>
      </p:sp>
      <p:sp>
        <p:nvSpPr>
          <p:cNvPr id="19" name="Saving label"/>
          <p:cNvSpPr txBox="1"/>
          <p:nvPr/>
        </p:nvSpPr>
        <p:spPr>
          <a:xfrm>
            <a:off x="493776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8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GOOD GETS LOST</a:t>
            </a:r>
            <a:endParaRPr lang="en-US" sz="1200" dirty="0"/>
          </a:p>
        </p:txBody>
      </p:sp>
      <p:sp>
        <p:nvSpPr>
          <p:cNvPr id="20" name="Save step 1"/>
          <p:cNvSpPr/>
          <p:nvPr/>
        </p:nvSpPr>
        <p:spPr>
          <a:xfrm>
            <a:off x="4937760" y="1463040"/>
            <a:ext cx="1828800" cy="1005840"/>
          </a:xfrm>
          <a:prstGeom prst="roundRect">
            <a:avLst>
              <a:gd name="adj" fmla="val 12727"/>
            </a:avLst>
          </a:prstGeom>
          <a:solidFill>
            <a:srgbClr val="1F3C88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ave step 1 title"/>
          <p:cNvSpPr txBox="1"/>
          <p:nvPr/>
        </p:nvSpPr>
        <p:spPr>
          <a:xfrm>
            <a:off x="5074920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Snapshot</a:t>
            </a:r>
            <a:endParaRPr lang="en-US" sz="1400" dirty="0"/>
          </a:p>
        </p:txBody>
      </p:sp>
      <p:sp>
        <p:nvSpPr>
          <p:cNvPr id="22" name="Save step 1 text"/>
          <p:cNvSpPr txBox="1"/>
          <p:nvPr/>
        </p:nvSpPr>
        <p:spPr>
          <a:xfrm>
            <a:off x="5074920" y="19019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saved before any change</a:t>
            </a:r>
            <a:endParaRPr lang="en-US" sz="1100" dirty="0"/>
          </a:p>
        </p:txBody>
      </p:sp>
      <p:sp>
        <p:nvSpPr>
          <p:cNvPr id="23" name="Save step 2"/>
          <p:cNvSpPr/>
          <p:nvPr/>
        </p:nvSpPr>
        <p:spPr>
          <a:xfrm>
            <a:off x="6858000" y="1463040"/>
            <a:ext cx="1828800" cy="1005840"/>
          </a:xfrm>
          <a:prstGeom prst="roundRect">
            <a:avLst>
              <a:gd name="adj" fmla="val 12727"/>
            </a:avLst>
          </a:prstGeom>
          <a:solidFill>
            <a:srgbClr val="1F3C88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ave step 2 title"/>
          <p:cNvSpPr txBox="1"/>
          <p:nvPr/>
        </p:nvSpPr>
        <p:spPr>
          <a:xfrm>
            <a:off x="6995160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Fix</a:t>
            </a:r>
            <a:endParaRPr lang="en-US" sz="1400" dirty="0"/>
          </a:p>
        </p:txBody>
      </p:sp>
      <p:sp>
        <p:nvSpPr>
          <p:cNvPr id="25" name="Save step 2 text"/>
          <p:cNvSpPr txBox="1"/>
          <p:nvPr/>
        </p:nvSpPr>
        <p:spPr>
          <a:xfrm>
            <a:off x="6995160" y="19019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Director applies its edits</a:t>
            </a:r>
            <a:endParaRPr lang="en-US" sz="1100" dirty="0"/>
          </a:p>
        </p:txBody>
      </p:sp>
      <p:sp>
        <p:nvSpPr>
          <p:cNvPr id="26" name="Save step 3"/>
          <p:cNvSpPr/>
          <p:nvPr/>
        </p:nvSpPr>
        <p:spPr>
          <a:xfrm>
            <a:off x="4937760" y="2560320"/>
            <a:ext cx="1828800" cy="1005840"/>
          </a:xfrm>
          <a:prstGeom prst="roundRect">
            <a:avLst>
              <a:gd name="adj" fmla="val 12727"/>
            </a:avLst>
          </a:prstGeom>
          <a:solidFill>
            <a:srgbClr val="1F3C88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ave step 3 title"/>
          <p:cNvSpPr txBox="1"/>
          <p:nvPr/>
        </p:nvSpPr>
        <p:spPr>
          <a:xfrm>
            <a:off x="5074920" y="26700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Re-score</a:t>
            </a:r>
            <a:endParaRPr lang="en-US" sz="1400" dirty="0"/>
          </a:p>
        </p:txBody>
      </p:sp>
      <p:sp>
        <p:nvSpPr>
          <p:cNvPr id="28" name="Save step 3 text"/>
          <p:cNvSpPr txBox="1"/>
          <p:nvPr/>
        </p:nvSpPr>
        <p:spPr>
          <a:xfrm>
            <a:off x="5074920" y="29992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and scored again</a:t>
            </a:r>
            <a:endParaRPr lang="en-US" sz="1100" dirty="0"/>
          </a:p>
        </p:txBody>
      </p:sp>
      <p:sp>
        <p:nvSpPr>
          <p:cNvPr id="29" name="Save step 4"/>
          <p:cNvSpPr/>
          <p:nvPr/>
        </p:nvSpPr>
        <p:spPr>
          <a:xfrm>
            <a:off x="6858000" y="2560320"/>
            <a:ext cx="1828800" cy="1005840"/>
          </a:xfrm>
          <a:prstGeom prst="roundRect">
            <a:avLst>
              <a:gd name="adj" fmla="val 12727"/>
            </a:avLst>
          </a:prstGeom>
          <a:solidFill>
            <a:srgbClr val="14284B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ave step 4 title"/>
          <p:cNvSpPr txBox="1"/>
          <p:nvPr/>
        </p:nvSpPr>
        <p:spPr>
          <a:xfrm>
            <a:off x="6995160" y="26700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Keep best</a:t>
            </a:r>
            <a:endParaRPr lang="en-US" sz="1400" dirty="0"/>
          </a:p>
        </p:txBody>
      </p:sp>
      <p:sp>
        <p:nvSpPr>
          <p:cNvPr id="31" name="Save step 4 text"/>
          <p:cNvSpPr txBox="1"/>
          <p:nvPr/>
        </p:nvSpPr>
        <p:spPr>
          <a:xfrm>
            <a:off x="6995160" y="29992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dropped? Reverted automatically</a:t>
            </a:r>
            <a:endParaRPr lang="en-US" sz="1100" dirty="0"/>
          </a:p>
        </p:txBody>
      </p:sp>
      <p:sp>
        <p:nvSpPr>
          <p:cNvPr id="32" name="Also kept"/>
          <p:cNvSpPr/>
          <p:nvPr/>
        </p:nvSpPr>
        <p:spPr>
          <a:xfrm>
            <a:off x="4937760" y="3703320"/>
            <a:ext cx="3749040" cy="1051560"/>
          </a:xfrm>
          <a:prstGeom prst="roundRect">
            <a:avLst>
              <a:gd name="adj" fmla="val 12174"/>
            </a:avLst>
          </a:prstGeom>
          <a:solidFill>
            <a:srgbClr val="AFC6F2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Also kept text"/>
          <p:cNvSpPr txBox="1"/>
          <p:nvPr/>
        </p:nvSpPr>
        <p:spPr>
          <a:xfrm>
            <a:off x="5074920" y="376732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kept: </a:t>
            </a:r>
            <a:r>
              <a:rPr lang="en-US" sz="1200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starred versions you can restore, a 42-photo bank, 20 reference ads stored as Slots, your edits survive rebuilds, and each photo keeps its subject box.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7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editor, fast enough to demo live</a:t>
            </a:r>
            <a:endParaRPr lang="en-US" sz="3400" dirty="0"/>
          </a:p>
        </p:txBody>
      </p:sp>
      <p:pic>
        <p:nvPicPr>
          <p:cNvPr id="3" name="Real editor screenshot" descr="C:\Users\sreekar.paruchuru\AppData\Local\Temp\claude\c--Users-sreekar-paruchuru-Desktop-photoeditor\eaf3932d-2151-4196-8d11-1209a11209cf\scratchpad\assets_v2\ed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5440680" cy="3703320"/>
          </a:xfrm>
          <a:prstGeom prst="rect">
            <a:avLst/>
          </a:prstGeom>
        </p:spPr>
      </p:pic>
      <p:sp>
        <p:nvSpPr>
          <p:cNvPr id="4" name="Callout 1"/>
          <p:cNvSpPr/>
          <p:nvPr/>
        </p:nvSpPr>
        <p:spPr>
          <a:xfrm>
            <a:off x="5989320" y="1188720"/>
            <a:ext cx="2697480" cy="1078992"/>
          </a:xfrm>
          <a:prstGeom prst="roundRect">
            <a:avLst>
              <a:gd name="adj" fmla="val 11864"/>
            </a:avLst>
          </a:prstGeom>
          <a:solidFill>
            <a:srgbClr val="1F3C88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Callout 1 title"/>
          <p:cNvSpPr txBox="1"/>
          <p:nvPr/>
        </p:nvSpPr>
        <p:spPr>
          <a:xfrm>
            <a:off x="6172200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</a:t>
            </a:r>
            <a:endParaRPr lang="en-US" sz="1800" dirty="0"/>
          </a:p>
        </p:txBody>
      </p:sp>
      <p:sp>
        <p:nvSpPr>
          <p:cNvPr id="6" name="Callout 1 text"/>
          <p:cNvSpPr txBox="1"/>
          <p:nvPr/>
        </p:nvSpPr>
        <p:spPr>
          <a:xfrm>
            <a:off x="6172200" y="16642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bank, instant Recreate, designs reviewed in parallel</a:t>
            </a:r>
            <a:endParaRPr lang="en-US" sz="1200" dirty="0"/>
          </a:p>
        </p:txBody>
      </p:sp>
      <p:sp>
        <p:nvSpPr>
          <p:cNvPr id="7" name="Callout 2"/>
          <p:cNvSpPr/>
          <p:nvPr/>
        </p:nvSpPr>
        <p:spPr>
          <a:xfrm>
            <a:off x="5989320" y="2377440"/>
            <a:ext cx="2697480" cy="1078992"/>
          </a:xfrm>
          <a:prstGeom prst="roundRect">
            <a:avLst>
              <a:gd name="adj" fmla="val 11864"/>
            </a:avLst>
          </a:prstGeom>
          <a:solidFill>
            <a:srgbClr val="3A66D4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Callout 2 title"/>
          <p:cNvSpPr txBox="1"/>
          <p:nvPr/>
        </p:nvSpPr>
        <p:spPr>
          <a:xfrm>
            <a:off x="6172200" y="2487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Visible</a:t>
            </a:r>
            <a:endParaRPr lang="en-US" sz="1800" dirty="0"/>
          </a:p>
        </p:txBody>
      </p:sp>
      <p:sp>
        <p:nvSpPr>
          <p:cNvPr id="9" name="Callout 2 text"/>
          <p:cNvSpPr txBox="1"/>
          <p:nvPr/>
        </p:nvSpPr>
        <p:spPr>
          <a:xfrm>
            <a:off x="6172200" y="28529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step cards with role tags, one-click question chips</a:t>
            </a:r>
            <a:endParaRPr lang="en-US" sz="1200" dirty="0"/>
          </a:p>
        </p:txBody>
      </p:sp>
      <p:sp>
        <p:nvSpPr>
          <p:cNvPr id="10" name="Callout 3"/>
          <p:cNvSpPr/>
          <p:nvPr/>
        </p:nvSpPr>
        <p:spPr>
          <a:xfrm>
            <a:off x="5989320" y="3566160"/>
            <a:ext cx="2697480" cy="1078992"/>
          </a:xfrm>
          <a:prstGeom prst="roundRect">
            <a:avLst>
              <a:gd name="adj" fmla="val 11864"/>
            </a:avLst>
          </a:prstGeom>
          <a:solidFill>
            <a:srgbClr val="14284B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Callout 3 title"/>
          <p:cNvSpPr txBox="1"/>
          <p:nvPr/>
        </p:nvSpPr>
        <p:spPr>
          <a:xfrm>
            <a:off x="6172200" y="3675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Reversible</a:t>
            </a:r>
            <a:endParaRPr lang="en-US" sz="1800" dirty="0"/>
          </a:p>
        </p:txBody>
      </p:sp>
      <p:sp>
        <p:nvSpPr>
          <p:cNvPr id="12" name="Callout 3 text"/>
          <p:cNvSpPr txBox="1"/>
          <p:nvPr/>
        </p:nvSpPr>
        <p:spPr>
          <a:xfrm>
            <a:off x="6172200" y="40416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Layers, undo and redo, saved versions; every edit is an op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7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behind, and what's next</a:t>
            </a:r>
            <a:endParaRPr lang="en-US" sz="3400" dirty="0"/>
          </a:p>
        </p:txBody>
      </p:sp>
      <p:sp>
        <p:nvSpPr>
          <p:cNvPr id="3" name="Left behind card"/>
          <p:cNvSpPr/>
          <p:nvPr/>
        </p:nvSpPr>
        <p:spPr>
          <a:xfrm>
            <a:off x="457200" y="1143000"/>
            <a:ext cx="2606040" cy="3657600"/>
          </a:xfrm>
          <a:prstGeom prst="roundRect">
            <a:avLst>
              <a:gd name="adj" fmla="val 4912"/>
            </a:avLst>
          </a:prstGeom>
          <a:solidFill>
            <a:srgbClr val="14284B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Left behind label"/>
          <p:cNvSpPr txBox="1"/>
          <p:nvPr/>
        </p:nvSpPr>
        <p:spPr>
          <a:xfrm>
            <a:off x="640080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F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BEHIND ON PURPOSE</a:t>
            </a:r>
            <a:endParaRPr lang="en-US" sz="1100" dirty="0"/>
          </a:p>
        </p:txBody>
      </p:sp>
      <p:sp>
        <p:nvSpPr>
          <p:cNvPr id="5" name="Left behind list"/>
          <p:cNvSpPr txBox="1"/>
          <p:nvPr/>
        </p:nvSpPr>
        <p:spPr>
          <a:xfrm>
            <a:off x="640080" y="1645920"/>
            <a:ext cx="22860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tool loop: fixed caps keep the demo from looping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framework and tool-calling API: one JSON contract instead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beyond the chat history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picking “the best” design: the designer decides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history and an MCP server, cut for time</a:t>
            </a:r>
            <a:endParaRPr lang="en-US" sz="1200" dirty="0"/>
          </a:p>
        </p:txBody>
      </p:sp>
      <p:sp>
        <p:nvSpPr>
          <p:cNvPr id="6" name="Themes card"/>
          <p:cNvSpPr/>
          <p:nvPr/>
        </p:nvSpPr>
        <p:spPr>
          <a:xfrm>
            <a:off x="3200400" y="1143000"/>
            <a:ext cx="2880360" cy="3657600"/>
          </a:xfrm>
          <a:prstGeom prst="roundRect">
            <a:avLst>
              <a:gd name="adj" fmla="val 4444"/>
            </a:avLst>
          </a:prstGeom>
          <a:solidFill>
            <a:srgbClr val="1F3C88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hemes label"/>
          <p:cNvSpPr txBox="1"/>
          <p:nvPr/>
        </p:nvSpPr>
        <p:spPr>
          <a:xfrm>
            <a:off x="3383280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F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CAMPAIGN THEMES</a:t>
            </a:r>
            <a:endParaRPr lang="en-US" sz="1100" dirty="0"/>
          </a:p>
        </p:txBody>
      </p:sp>
      <p:sp>
        <p:nvSpPr>
          <p:cNvPr id="8" name="Themes text"/>
          <p:cNvSpPr txBox="1"/>
          <p:nvPr/>
        </p:nvSpPr>
        <p:spPr>
          <a:xfrm>
            <a:off x="338328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theme packs: Christmas in red and green, with matching blooms, charms and backgrounds.</a:t>
            </a:r>
            <a:endParaRPr lang="en-US" sz="1300" dirty="0"/>
          </a:p>
        </p:txBody>
      </p:sp>
      <p:sp>
        <p:nvSpPr>
          <p:cNvPr id="9" name="Christmas swatch A"/>
          <p:cNvSpPr/>
          <p:nvPr/>
        </p:nvSpPr>
        <p:spPr>
          <a:xfrm>
            <a:off x="3383280" y="2743200"/>
            <a:ext cx="384048" cy="384048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hristmas swatch B"/>
          <p:cNvSpPr/>
          <p:nvPr/>
        </p:nvSpPr>
        <p:spPr>
          <a:xfrm>
            <a:off x="3657600" y="2743200"/>
            <a:ext cx="384048" cy="384048"/>
          </a:xfrm>
          <a:prstGeom prst="ellipse">
            <a:avLst/>
          </a:prstGeom>
          <a:solidFill>
            <a:srgbClr val="1E6B3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hristmas label"/>
          <p:cNvSpPr txBox="1"/>
          <p:nvPr/>
        </p:nvSpPr>
        <p:spPr>
          <a:xfrm>
            <a:off x="3337560" y="3200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Christmas</a:t>
            </a:r>
            <a:endParaRPr lang="en-US" sz="1100" dirty="0"/>
          </a:p>
        </p:txBody>
      </p:sp>
      <p:sp>
        <p:nvSpPr>
          <p:cNvPr id="12" name="Black Friday swatch A"/>
          <p:cNvSpPr/>
          <p:nvPr/>
        </p:nvSpPr>
        <p:spPr>
          <a:xfrm>
            <a:off x="4270248" y="2743200"/>
            <a:ext cx="384048" cy="38404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Black Friday swatch B"/>
          <p:cNvSpPr/>
          <p:nvPr/>
        </p:nvSpPr>
        <p:spPr>
          <a:xfrm>
            <a:off x="4544568" y="2743200"/>
            <a:ext cx="384048" cy="384048"/>
          </a:xfrm>
          <a:prstGeom prst="ellipse">
            <a:avLst/>
          </a:prstGeom>
          <a:solidFill>
            <a:srgbClr val="E0B8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Black Friday label"/>
          <p:cNvSpPr txBox="1"/>
          <p:nvPr/>
        </p:nvSpPr>
        <p:spPr>
          <a:xfrm>
            <a:off x="4224528" y="3200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</a:t>
            </a:r>
            <a:endParaRPr lang="en-US" sz="1100" dirty="0"/>
          </a:p>
        </p:txBody>
      </p:sp>
      <p:sp>
        <p:nvSpPr>
          <p:cNvPr id="15" name="Summer swatch A"/>
          <p:cNvSpPr/>
          <p:nvPr/>
        </p:nvSpPr>
        <p:spPr>
          <a:xfrm>
            <a:off x="5157216" y="2743200"/>
            <a:ext cx="384048" cy="38404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ummer swatch B"/>
          <p:cNvSpPr/>
          <p:nvPr/>
        </p:nvSpPr>
        <p:spPr>
          <a:xfrm>
            <a:off x="5431536" y="2743200"/>
            <a:ext cx="384048" cy="384048"/>
          </a:xfrm>
          <a:prstGeom prst="ellipse">
            <a:avLst/>
          </a:prstGeom>
          <a:solidFill>
            <a:srgbClr val="E85D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ummer label"/>
          <p:cNvSpPr txBox="1"/>
          <p:nvPr/>
        </p:nvSpPr>
        <p:spPr>
          <a:xfrm>
            <a:off x="5111496" y="3200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</a:t>
            </a:r>
            <a:endParaRPr lang="en-US" sz="1100" dirty="0"/>
          </a:p>
        </p:txBody>
      </p:sp>
      <p:sp>
        <p:nvSpPr>
          <p:cNvPr id="18" name="Themes note"/>
          <p:cNvSpPr txBox="1"/>
          <p:nvPr/>
        </p:nvSpPr>
        <p:spPr>
          <a:xfrm>
            <a:off x="3383280" y="36118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pack is an approved extension of the brand kit, so the brand guard checks it too. For example: the palette rule would allow red and green only inside the Christmas pack.</a:t>
            </a:r>
            <a:endParaRPr lang="en-US" sz="1200" dirty="0"/>
          </a:p>
        </p:txBody>
      </p:sp>
      <p:sp>
        <p:nvSpPr>
          <p:cNvPr id="19" name="More card"/>
          <p:cNvSpPr/>
          <p:nvPr/>
        </p:nvSpPr>
        <p:spPr>
          <a:xfrm>
            <a:off x="6217920" y="1143000"/>
            <a:ext cx="2468880" cy="3657600"/>
          </a:xfrm>
          <a:prstGeom prst="roundRect">
            <a:avLst>
              <a:gd name="adj" fmla="val 5185"/>
            </a:avLst>
          </a:prstGeom>
          <a:solidFill>
            <a:srgbClr val="FBF7EE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More label"/>
          <p:cNvSpPr txBox="1"/>
          <p:nvPr/>
        </p:nvSpPr>
        <p:spPr>
          <a:xfrm>
            <a:off x="6400800" y="12984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8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IMPROVEMENTS</a:t>
            </a:r>
            <a:endParaRPr lang="en-US" sz="1100" dirty="0"/>
          </a:p>
        </p:txBody>
      </p:sp>
      <p:sp>
        <p:nvSpPr>
          <p:cNvPr id="21" name="More list"/>
          <p:cNvSpPr txBox="1"/>
          <p:nvPr/>
        </p:nvSpPr>
        <p:spPr>
          <a:xfrm>
            <a:off x="6400800" y="1645920"/>
            <a:ext cx="21488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Researcher agent, as in GetCrux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performance fed back to the Strategist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 per market: currency and terms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 lockups with partner logos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the designer's edits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straight to ad platforms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7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mits card"/>
          <p:cNvSpPr/>
          <p:nvPr/>
        </p:nvSpPr>
        <p:spPr>
          <a:xfrm>
            <a:off x="457200" y="1371600"/>
            <a:ext cx="4389120" cy="2194560"/>
          </a:xfrm>
          <a:prstGeom prst="roundRect">
            <a:avLst>
              <a:gd name="adj" fmla="val 5833"/>
            </a:avLst>
          </a:prstGeom>
          <a:solidFill>
            <a:srgbClr val="F4ECDD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Limits title"/>
          <p:cNvSpPr txBox="1"/>
          <p:nvPr/>
        </p:nvSpPr>
        <p:spPr>
          <a:xfrm>
            <a:off x="68580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8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LIMITS TODAY</a:t>
            </a:r>
            <a:endParaRPr lang="en-US" sz="1200" dirty="0"/>
          </a:p>
        </p:txBody>
      </p:sp>
      <p:sp>
        <p:nvSpPr>
          <p:cNvPr id="4" name="Limits list"/>
          <p:cNvSpPr txBox="1"/>
          <p:nvPr/>
        </p:nvSpPr>
        <p:spPr>
          <a:xfrm>
            <a:off x="685800" y="196596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stand-in fonts for the brand font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 art upscaled from small sources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comparison layout shown as rows</a:t>
            </a:r>
            <a:endParaRPr lang="en-US" sz="1400" dirty="0"/>
          </a:p>
        </p:txBody>
      </p:sp>
      <p:sp>
        <p:nvSpPr>
          <p:cNvPr id="5" name="Thank you"/>
          <p:cNvSpPr txBox="1"/>
          <p:nvPr/>
        </p:nvSpPr>
        <p:spPr>
          <a:xfrm>
            <a:off x="5303520" y="13716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4EC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Demo and Q&amp;amp;A"/>
          <p:cNvSpPr txBox="1"/>
          <p:nvPr/>
        </p:nvSpPr>
        <p:spPr>
          <a:xfrm>
            <a:off x="5303520" y="2377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AF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and Q&amp;A</a:t>
            </a:r>
            <a:endParaRPr lang="en-US" sz="2200" dirty="0"/>
          </a:p>
        </p:txBody>
      </p:sp>
      <p:sp>
        <p:nvSpPr>
          <p:cNvPr id="7" name="Closing line"/>
          <p:cNvSpPr txBox="1"/>
          <p:nvPr/>
        </p:nvSpPr>
        <p:spPr>
          <a:xfrm>
            <a:off x="5303520" y="31089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rules in code. Creativity in the model. Every layer editable.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FC6F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and Beige">
  <a:themeElements>
    <a:clrScheme name="Blue and Beige">
      <a:dk1>
        <a:srgbClr val="1B2A49"/>
      </a:dk1>
      <a:lt1>
        <a:srgbClr val="FFFFFF"/>
      </a:lt1>
      <a:dk2>
        <a:srgbClr val="14284B"/>
      </a:dk2>
      <a:lt2>
        <a:srgbClr val="F4ECDD"/>
      </a:lt2>
      <a:accent1>
        <a:srgbClr val="1F3C88"/>
      </a:accent1>
      <a:accent2>
        <a:srgbClr val="3A66D4"/>
      </a:accent2>
      <a:accent3>
        <a:srgbClr val="AFC6F2"/>
      </a:accent3>
      <a:accent4>
        <a:srgbClr val="B88A44"/>
      </a:accent4>
      <a:accent5>
        <a:srgbClr val="E6D8BC"/>
      </a:accent5>
      <a:accent6>
        <a:srgbClr val="5C6784"/>
      </a:accent6>
      <a:hlink>
        <a:srgbClr val="3A66D4"/>
      </a:hlink>
      <a:folHlink>
        <a:srgbClr val="5C6784"/>
      </a:folHlink>
    </a:clrScheme>
    <a:fontScheme name="Blue and Bei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1288</Words>
  <Application>Microsoft Office PowerPoint</Application>
  <PresentationFormat>On-screen Show (16:9)</PresentationFormat>
  <Paragraphs>215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Blue and Beige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Xero Copilot</dc:title>
  <dc:subject>PptxGenJS Presentation</dc:subject>
  <dc:creator>Xero Copilot</dc:creator>
  <cp:lastModifiedBy>Sreekar Paruchuru</cp:lastModifiedBy>
  <cp:revision>2</cp:revision>
  <dcterms:created xsi:type="dcterms:W3CDTF">2026-10-17T12:40:02Z</dcterms:created>
  <dcterms:modified xsi:type="dcterms:W3CDTF">2026-10-17T12:42:40Z</dcterms:modified>
</cp:coreProperties>
</file>