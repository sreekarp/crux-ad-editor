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brief's own example: 'Create 4 different images like this'. Every ad on the right was generated by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principle: brand rules in code, creativity in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EC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428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 panel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14284B"/>
          </a:solidFill>
          <a:ln/>
        </p:spPr>
      </p:sp>
      <p:pic>
        <p:nvPicPr>
          <p:cNvPr id="3" name="Real ads wall" descr="C:\Users\sreekar.paruchuru\AppData\Local\Temp\claude\c--Users-sreekar-paruchuru-Desktop-photoeditor\eaf3932d-2151-4196-8d11-1209a11209cf\scratchpad\assets_v2\her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548640" y="640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GETCRUX AI HACKATHON  |  17 OCT 2026</a:t>
            </a:r>
            <a:endParaRPr lang="en-US" sz="120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Xero</a:t>
            </a:r>
            <a:endParaRPr lang="en-US" sz="56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6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Copilot</a:t>
            </a:r>
            <a:endParaRPr lang="en-US" sz="5600" dirty="0"/>
          </a:p>
        </p:txBody>
      </p:sp>
      <p:sp>
        <p:nvSpPr>
          <p:cNvPr id="6" name="Subtitle"/>
          <p:cNvSpPr txBox="1"/>
          <p:nvPr/>
        </p:nvSpPr>
        <p:spPr>
          <a:xfrm>
            <a:off x="548640" y="29260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agentic, on-brand AI image editor</a:t>
            </a:r>
            <a:endParaRPr lang="en-US" sz="2000" dirty="0"/>
          </a:p>
        </p:txBody>
      </p:sp>
      <p:sp>
        <p:nvSpPr>
          <p:cNvPr id="7" name="Tagline"/>
          <p:cNvSpPr txBox="1"/>
          <p:nvPr/>
        </p:nvSpPr>
        <p:spPr>
          <a:xfrm>
            <a:off x="548640" y="37490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layered, editable design that follows the brand kit, not a flat picture.</a:t>
            </a:r>
            <a:endParaRPr lang="en-US" sz="1400" dirty="0"/>
          </a:p>
        </p:txBody>
      </p:sp>
      <p:sp>
        <p:nvSpPr>
          <p:cNvPr id="8" name="Footer"/>
          <p:cNvSpPr txBox="1"/>
          <p:nvPr/>
        </p:nvSpPr>
        <p:spPr>
          <a:xfrm>
            <a:off x="548640" y="4526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Cruxlabs, Bangalore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brand rules to editable ads</a:t>
            </a:r>
            <a:endParaRPr lang="en-US" sz="3400" dirty="0"/>
          </a:p>
        </p:txBody>
      </p:sp>
      <p:sp>
        <p:nvSpPr>
          <p:cNvPr id="3" name="Problem card"/>
          <p:cNvSpPr/>
          <p:nvPr/>
        </p:nvSpPr>
        <p:spPr>
          <a:xfrm>
            <a:off x="457200" y="1188720"/>
            <a:ext cx="2468880" cy="3429000"/>
          </a:xfrm>
          <a:prstGeom prst="roundRect">
            <a:avLst>
              <a:gd name="adj" fmla="val 5185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Problem label"/>
          <p:cNvSpPr txBox="1"/>
          <p:nvPr/>
        </p:nvSpPr>
        <p:spPr>
          <a:xfrm>
            <a:off x="685800" y="14173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Problem headline"/>
          <p:cNvSpPr txBox="1"/>
          <p:nvPr/>
        </p:nvSpPr>
        <p:spPr>
          <a:xfrm>
            <a:off x="685800" y="1783080"/>
            <a:ext cx="2057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Great ads. One missed rule. Off-brand.</a:t>
            </a:r>
            <a:endParaRPr lang="en-US" sz="2200" dirty="0"/>
          </a:p>
        </p:txBody>
      </p:sp>
      <p:sp>
        <p:nvSpPr>
          <p:cNvPr id="6" name="Problem detail"/>
          <p:cNvSpPr txBox="1"/>
          <p:nvPr/>
        </p:nvSpPr>
        <p:spPr>
          <a:xfrm>
            <a:off x="68580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Designers build many branded ads by hand. One missed rule ships an off-brand ad.</a:t>
            </a:r>
            <a:endParaRPr lang="en-US" sz="1400" dirty="0"/>
          </a:p>
        </p:txBody>
      </p:sp>
      <p:sp>
        <p:nvSpPr>
          <p:cNvPr id="7" name="Feature card 1"/>
          <p:cNvSpPr/>
          <p:nvPr/>
        </p:nvSpPr>
        <p:spPr>
          <a:xfrm>
            <a:off x="310896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Feature 1 circle"/>
          <p:cNvSpPr/>
          <p:nvPr/>
        </p:nvSpPr>
        <p:spPr>
          <a:xfrm>
            <a:off x="324612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9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1276" y="1431036"/>
            <a:ext cx="210312" cy="210312"/>
          </a:xfrm>
          <a:prstGeom prst="rect">
            <a:avLst/>
          </a:prstGeom>
        </p:spPr>
      </p:pic>
      <p:sp>
        <p:nvSpPr>
          <p:cNvPr id="10" name="Feature 1 title"/>
          <p:cNvSpPr txBox="1"/>
          <p:nvPr/>
        </p:nvSpPr>
        <p:spPr>
          <a:xfrm>
            <a:off x="324612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to design</a:t>
            </a:r>
            <a:endParaRPr lang="en-US" sz="1300" dirty="0"/>
          </a:p>
        </p:txBody>
      </p:sp>
      <p:sp>
        <p:nvSpPr>
          <p:cNvPr id="11" name="Feature 1 text"/>
          <p:cNvSpPr txBox="1"/>
          <p:nvPr/>
        </p:nvSpPr>
        <p:spPr>
          <a:xfrm>
            <a:off x="324612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ad. Get copy, layout, photos and charms.</a:t>
            </a:r>
            <a:endParaRPr lang="en-US" sz="1100" dirty="0"/>
          </a:p>
        </p:txBody>
      </p:sp>
      <p:sp>
        <p:nvSpPr>
          <p:cNvPr id="12" name="Feature card 2"/>
          <p:cNvSpPr/>
          <p:nvPr/>
        </p:nvSpPr>
        <p:spPr>
          <a:xfrm>
            <a:off x="498348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Feature 2 circle"/>
          <p:cNvSpPr/>
          <p:nvPr/>
        </p:nvSpPr>
        <p:spPr>
          <a:xfrm>
            <a:off x="5120640" y="132588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14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796" y="1431036"/>
            <a:ext cx="210312" cy="210312"/>
          </a:xfrm>
          <a:prstGeom prst="rect">
            <a:avLst/>
          </a:prstGeom>
        </p:spPr>
      </p:pic>
      <p:sp>
        <p:nvSpPr>
          <p:cNvPr id="15" name="Feature 2 title"/>
          <p:cNvSpPr txBox="1"/>
          <p:nvPr/>
        </p:nvSpPr>
        <p:spPr>
          <a:xfrm>
            <a:off x="512064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like this</a:t>
            </a:r>
            <a:endParaRPr lang="en-US" sz="1300" dirty="0"/>
          </a:p>
        </p:txBody>
      </p:sp>
      <p:sp>
        <p:nvSpPr>
          <p:cNvPr id="16" name="Feature 2 text"/>
          <p:cNvSpPr txBox="1"/>
          <p:nvPr/>
        </p:nvSpPr>
        <p:spPr>
          <a:xfrm>
            <a:off x="512064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any ad as layers, then “Create 4 like this”.</a:t>
            </a:r>
            <a:endParaRPr lang="en-US" sz="1100" dirty="0"/>
          </a:p>
        </p:txBody>
      </p:sp>
      <p:sp>
        <p:nvSpPr>
          <p:cNvPr id="17" name="Feature card 3"/>
          <p:cNvSpPr/>
          <p:nvPr/>
        </p:nvSpPr>
        <p:spPr>
          <a:xfrm>
            <a:off x="6858000" y="118872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Feature 3 circle"/>
          <p:cNvSpPr/>
          <p:nvPr/>
        </p:nvSpPr>
        <p:spPr>
          <a:xfrm>
            <a:off x="6995160" y="132588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19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0316" y="1431036"/>
            <a:ext cx="210312" cy="210312"/>
          </a:xfrm>
          <a:prstGeom prst="rect">
            <a:avLst/>
          </a:prstGeom>
        </p:spPr>
      </p:pic>
      <p:sp>
        <p:nvSpPr>
          <p:cNvPr id="20" name="Feature 3 title"/>
          <p:cNvSpPr txBox="1"/>
          <p:nvPr/>
        </p:nvSpPr>
        <p:spPr>
          <a:xfrm>
            <a:off x="6995160" y="181051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+ hands-on edits</a:t>
            </a:r>
            <a:endParaRPr lang="en-US" sz="1300" dirty="0"/>
          </a:p>
        </p:txBody>
      </p:sp>
      <p:sp>
        <p:nvSpPr>
          <p:cNvPr id="21" name="Feature 3 text"/>
          <p:cNvSpPr txBox="1"/>
          <p:nvPr/>
        </p:nvSpPr>
        <p:spPr>
          <a:xfrm>
            <a:off x="6995160" y="224028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dark”, drag, resize, undo.</a:t>
            </a:r>
            <a:endParaRPr lang="en-US" sz="1100" dirty="0"/>
          </a:p>
        </p:txBody>
      </p:sp>
      <p:sp>
        <p:nvSpPr>
          <p:cNvPr id="22" name="Feature card 4"/>
          <p:cNvSpPr/>
          <p:nvPr/>
        </p:nvSpPr>
        <p:spPr>
          <a:xfrm>
            <a:off x="310896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3" name="Feature 4 circle"/>
          <p:cNvSpPr/>
          <p:nvPr/>
        </p:nvSpPr>
        <p:spPr>
          <a:xfrm>
            <a:off x="324612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24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1276" y="3214116"/>
            <a:ext cx="210312" cy="210312"/>
          </a:xfrm>
          <a:prstGeom prst="rect">
            <a:avLst/>
          </a:prstGeom>
        </p:spPr>
      </p:pic>
      <p:sp>
        <p:nvSpPr>
          <p:cNvPr id="25" name="Feature 4 title"/>
          <p:cNvSpPr txBox="1"/>
          <p:nvPr/>
        </p:nvSpPr>
        <p:spPr>
          <a:xfrm>
            <a:off x="324612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 and SVG import</a:t>
            </a:r>
            <a:endParaRPr lang="en-US" sz="1300" dirty="0"/>
          </a:p>
        </p:txBody>
      </p:sp>
      <p:sp>
        <p:nvSpPr>
          <p:cNvPr id="26" name="Feature 4 text"/>
          <p:cNvSpPr txBox="1"/>
          <p:nvPr/>
        </p:nvSpPr>
        <p:spPr>
          <a:xfrm>
            <a:off x="324612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Arrive as editable text and layers.</a:t>
            </a:r>
            <a:endParaRPr lang="en-US" sz="1100" dirty="0"/>
          </a:p>
        </p:txBody>
      </p:sp>
      <p:sp>
        <p:nvSpPr>
          <p:cNvPr id="27" name="Feature card 5"/>
          <p:cNvSpPr/>
          <p:nvPr/>
        </p:nvSpPr>
        <p:spPr>
          <a:xfrm>
            <a:off x="498348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Feature 5 circle"/>
          <p:cNvSpPr/>
          <p:nvPr/>
        </p:nvSpPr>
        <p:spPr>
          <a:xfrm>
            <a:off x="5120640" y="3108960"/>
            <a:ext cx="420624" cy="420624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29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5796" y="3214116"/>
            <a:ext cx="210312" cy="210312"/>
          </a:xfrm>
          <a:prstGeom prst="rect">
            <a:avLst/>
          </a:prstGeom>
        </p:spPr>
      </p:pic>
      <p:sp>
        <p:nvSpPr>
          <p:cNvPr id="30" name="Feature 5 title"/>
          <p:cNvSpPr txBox="1"/>
          <p:nvPr/>
        </p:nvSpPr>
        <p:spPr>
          <a:xfrm>
            <a:off x="512064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brand guard</a:t>
            </a:r>
            <a:endParaRPr lang="en-US" sz="1300" dirty="0"/>
          </a:p>
        </p:txBody>
      </p:sp>
      <p:sp>
        <p:nvSpPr>
          <p:cNvPr id="31" name="Feature 5 text"/>
          <p:cNvSpPr txBox="1"/>
          <p:nvPr/>
        </p:nvSpPr>
        <p:spPr>
          <a:xfrm>
            <a:off x="512064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rules checked as you work. One-click Fix all.</a:t>
            </a:r>
            <a:endParaRPr lang="en-US" sz="1100" dirty="0"/>
          </a:p>
        </p:txBody>
      </p:sp>
      <p:sp>
        <p:nvSpPr>
          <p:cNvPr id="32" name="Feature card 6"/>
          <p:cNvSpPr/>
          <p:nvPr/>
        </p:nvSpPr>
        <p:spPr>
          <a:xfrm>
            <a:off x="6858000" y="2971800"/>
            <a:ext cx="1737360" cy="1645920"/>
          </a:xfrm>
          <a:prstGeom prst="roundRect">
            <a:avLst>
              <a:gd name="adj" fmla="val 777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Feature 6 circle"/>
          <p:cNvSpPr/>
          <p:nvPr/>
        </p:nvSpPr>
        <p:spPr>
          <a:xfrm>
            <a:off x="6995160" y="3108960"/>
            <a:ext cx="420624" cy="420624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34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0316" y="3214116"/>
            <a:ext cx="210312" cy="210312"/>
          </a:xfrm>
          <a:prstGeom prst="rect">
            <a:avLst/>
          </a:prstGeom>
        </p:spPr>
      </p:pic>
      <p:sp>
        <p:nvSpPr>
          <p:cNvPr id="35" name="Feature 6 title"/>
          <p:cNvSpPr txBox="1"/>
          <p:nvPr/>
        </p:nvSpPr>
        <p:spPr>
          <a:xfrm>
            <a:off x="6995160" y="3593592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Resize and export</a:t>
            </a:r>
            <a:endParaRPr lang="en-US" sz="1300" dirty="0"/>
          </a:p>
        </p:txBody>
      </p:sp>
      <p:sp>
        <p:nvSpPr>
          <p:cNvPr id="36" name="Feature 6 text"/>
          <p:cNvSpPr txBox="1"/>
          <p:nvPr/>
        </p:nvSpPr>
        <p:spPr>
          <a:xfrm>
            <a:off x="6995160" y="4023360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4:5, 1:1, 9:16. PNG, JPG or editable JSON.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never places pixels</a:t>
            </a:r>
            <a:endParaRPr lang="en-US" sz="3400" dirty="0"/>
          </a:p>
        </p:txBody>
      </p:sp>
      <p:sp>
        <p:nvSpPr>
          <p:cNvPr id="3" name="Principle"/>
          <p:cNvSpPr txBox="1"/>
          <p:nvPr/>
        </p:nvSpPr>
        <p:spPr>
          <a:xfrm>
            <a:off x="457200" y="10515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what to say (Slots) and what to change (Ops). Deterministic code decides where it goes.</a:t>
            </a:r>
            <a:endParaRPr lang="en-US" sz="1600" dirty="0"/>
          </a:p>
        </p:txBody>
      </p:sp>
      <p:sp>
        <p:nvSpPr>
          <p:cNvPr id="4" name="Arch box 1"/>
          <p:cNvSpPr/>
          <p:nvPr/>
        </p:nvSpPr>
        <p:spPr>
          <a:xfrm>
            <a:off x="45720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Arch 1 title"/>
          <p:cNvSpPr txBox="1"/>
          <p:nvPr/>
        </p:nvSpPr>
        <p:spPr>
          <a:xfrm>
            <a:off x="64008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editor</a:t>
            </a:r>
            <a:endParaRPr lang="en-US" sz="1600" dirty="0"/>
          </a:p>
        </p:txBody>
      </p:sp>
      <p:sp>
        <p:nvSpPr>
          <p:cNvPr id="6" name="Arch 1 text"/>
          <p:cNvSpPr txBox="1"/>
          <p:nvPr/>
        </p:nvSpPr>
        <p:spPr>
          <a:xfrm>
            <a:off x="64008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Konva canvas with copilot chat</a:t>
            </a:r>
            <a:endParaRPr lang="en-US" sz="1200" dirty="0"/>
          </a:p>
        </p:txBody>
      </p:sp>
      <p:sp>
        <p:nvSpPr>
          <p:cNvPr id="7" name="Arrow 1"/>
          <p:cNvSpPr txBox="1"/>
          <p:nvPr/>
        </p:nvSpPr>
        <p:spPr>
          <a:xfrm>
            <a:off x="292608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8" name="Arch box 2"/>
          <p:cNvSpPr/>
          <p:nvPr/>
        </p:nvSpPr>
        <p:spPr>
          <a:xfrm>
            <a:off x="338328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3A66D4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Arch 2 title"/>
          <p:cNvSpPr txBox="1"/>
          <p:nvPr/>
        </p:nvSpPr>
        <p:spPr>
          <a:xfrm>
            <a:off x="356616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engine</a:t>
            </a:r>
            <a:endParaRPr lang="en-US" sz="1600" dirty="0"/>
          </a:p>
        </p:txBody>
      </p:sp>
      <p:sp>
        <p:nvSpPr>
          <p:cNvPr id="10" name="Arch 2 text"/>
          <p:cNvSpPr txBox="1"/>
          <p:nvPr/>
        </p:nvSpPr>
        <p:spPr>
          <a:xfrm>
            <a:off x="356616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templates, 18 brand rules, ops engine</a:t>
            </a:r>
            <a:endParaRPr lang="en-US" sz="1200" dirty="0"/>
          </a:p>
        </p:txBody>
      </p:sp>
      <p:sp>
        <p:nvSpPr>
          <p:cNvPr id="11" name="Arrow 2"/>
          <p:cNvSpPr txBox="1"/>
          <p:nvPr/>
        </p:nvSpPr>
        <p:spPr>
          <a:xfrm>
            <a:off x="58521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Arch box 3"/>
          <p:cNvSpPr/>
          <p:nvPr/>
        </p:nvSpPr>
        <p:spPr>
          <a:xfrm>
            <a:off x="6309360" y="1783080"/>
            <a:ext cx="2468880" cy="1234440"/>
          </a:xfrm>
          <a:prstGeom prst="roundRect">
            <a:avLst>
              <a:gd name="adj" fmla="val 1037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Arch 3 title"/>
          <p:cNvSpPr txBox="1"/>
          <p:nvPr/>
        </p:nvSpPr>
        <p:spPr>
          <a:xfrm>
            <a:off x="6492240" y="1920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backend</a:t>
            </a:r>
            <a:endParaRPr lang="en-US" sz="1600" dirty="0"/>
          </a:p>
        </p:txBody>
      </p:sp>
      <p:sp>
        <p:nvSpPr>
          <p:cNvPr id="14" name="Arch 3 text"/>
          <p:cNvSpPr txBox="1"/>
          <p:nvPr/>
        </p:nvSpPr>
        <p:spPr>
          <a:xfrm>
            <a:off x="6492240" y="2286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FastAPI, DeepSeek Pro + Flash, GPT Image Flare for photos only</a:t>
            </a:r>
            <a:endParaRPr lang="en-US" sz="1200" dirty="0"/>
          </a:p>
        </p:txBody>
      </p:sp>
      <p:sp>
        <p:nvSpPr>
          <p:cNvPr id="15" name="Stat 1"/>
          <p:cNvSpPr/>
          <p:nvPr/>
        </p:nvSpPr>
        <p:spPr>
          <a:xfrm>
            <a:off x="457200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6" name="Stat 1 number"/>
          <p:cNvSpPr txBox="1"/>
          <p:nvPr/>
        </p:nvSpPr>
        <p:spPr>
          <a:xfrm>
            <a:off x="457200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800" dirty="0"/>
          </a:p>
        </p:txBody>
      </p:sp>
      <p:sp>
        <p:nvSpPr>
          <p:cNvPr id="17" name="Stat 1 label"/>
          <p:cNvSpPr txBox="1"/>
          <p:nvPr/>
        </p:nvSpPr>
        <p:spPr>
          <a:xfrm>
            <a:off x="457200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ads</a:t>
            </a:r>
            <a:endParaRPr lang="en-US" sz="1300" dirty="0"/>
          </a:p>
        </p:txBody>
      </p:sp>
      <p:sp>
        <p:nvSpPr>
          <p:cNvPr id="18" name="Stat 2"/>
          <p:cNvSpPr/>
          <p:nvPr/>
        </p:nvSpPr>
        <p:spPr>
          <a:xfrm>
            <a:off x="2121408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9" name="Stat 2 number"/>
          <p:cNvSpPr txBox="1"/>
          <p:nvPr/>
        </p:nvSpPr>
        <p:spPr>
          <a:xfrm>
            <a:off x="2121408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20" name="Stat 2 label"/>
          <p:cNvSpPr txBox="1"/>
          <p:nvPr/>
        </p:nvSpPr>
        <p:spPr>
          <a:xfrm>
            <a:off x="2121408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300" dirty="0"/>
          </a:p>
        </p:txBody>
      </p:sp>
      <p:sp>
        <p:nvSpPr>
          <p:cNvPr id="21" name="Stat 3"/>
          <p:cNvSpPr/>
          <p:nvPr/>
        </p:nvSpPr>
        <p:spPr>
          <a:xfrm>
            <a:off x="3785616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2" name="Stat 3 number"/>
          <p:cNvSpPr txBox="1"/>
          <p:nvPr/>
        </p:nvSpPr>
        <p:spPr>
          <a:xfrm>
            <a:off x="3785616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800" dirty="0"/>
          </a:p>
        </p:txBody>
      </p:sp>
      <p:sp>
        <p:nvSpPr>
          <p:cNvPr id="23" name="Stat 3 label"/>
          <p:cNvSpPr txBox="1"/>
          <p:nvPr/>
        </p:nvSpPr>
        <p:spPr>
          <a:xfrm>
            <a:off x="3785616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</a:t>
            </a:r>
            <a:endParaRPr lang="en-US" sz="1300" dirty="0"/>
          </a:p>
        </p:txBody>
      </p:sp>
      <p:sp>
        <p:nvSpPr>
          <p:cNvPr id="24" name="Stat 4"/>
          <p:cNvSpPr/>
          <p:nvPr/>
        </p:nvSpPr>
        <p:spPr>
          <a:xfrm>
            <a:off x="5449824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5" name="Stat 4 number"/>
          <p:cNvSpPr txBox="1"/>
          <p:nvPr/>
        </p:nvSpPr>
        <p:spPr>
          <a:xfrm>
            <a:off x="5449824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325</a:t>
            </a:r>
            <a:endParaRPr lang="en-US" sz="3800" dirty="0"/>
          </a:p>
        </p:txBody>
      </p:sp>
      <p:sp>
        <p:nvSpPr>
          <p:cNvPr id="26" name="Stat 4 label"/>
          <p:cNvSpPr txBox="1"/>
          <p:nvPr/>
        </p:nvSpPr>
        <p:spPr>
          <a:xfrm>
            <a:off x="5449824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charms</a:t>
            </a:r>
            <a:endParaRPr lang="en-US" sz="1300" dirty="0"/>
          </a:p>
        </p:txBody>
      </p:sp>
      <p:sp>
        <p:nvSpPr>
          <p:cNvPr id="27" name="Stat 5"/>
          <p:cNvSpPr/>
          <p:nvPr/>
        </p:nvSpPr>
        <p:spPr>
          <a:xfrm>
            <a:off x="7114032" y="3337560"/>
            <a:ext cx="1554480" cy="1280160"/>
          </a:xfrm>
          <a:prstGeom prst="roundRect">
            <a:avLst>
              <a:gd name="adj" fmla="val 1000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8" name="Stat 5 number"/>
          <p:cNvSpPr txBox="1"/>
          <p:nvPr/>
        </p:nvSpPr>
        <p:spPr>
          <a:xfrm>
            <a:off x="7114032" y="3474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100+</a:t>
            </a:r>
            <a:endParaRPr lang="en-US" sz="3800" dirty="0"/>
          </a:p>
        </p:txBody>
      </p:sp>
      <p:sp>
        <p:nvSpPr>
          <p:cNvPr id="29" name="Stat 5 label"/>
          <p:cNvSpPr txBox="1"/>
          <p:nvPr/>
        </p:nvSpPr>
        <p:spPr>
          <a:xfrm>
            <a:off x="7114032" y="41148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4 different images like this</a:t>
            </a:r>
            <a:endParaRPr lang="en-US" sz="3400" dirty="0"/>
          </a:p>
        </p:txBody>
      </p:sp>
      <p:sp>
        <p:nvSpPr>
          <p:cNvPr id="3" name="Strip panel"/>
          <p:cNvSpPr/>
          <p:nvPr/>
        </p:nvSpPr>
        <p:spPr>
          <a:xfrm>
            <a:off x="457200" y="1143000"/>
            <a:ext cx="8229600" cy="2788920"/>
          </a:xfrm>
          <a:prstGeom prst="roundRect">
            <a:avLst>
              <a:gd name="adj" fmla="val 459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4" name="Reference and four variations" descr="C:\Users\sreekar.paruchuru\AppData\Local\Temp\claude\c--Users-sreekar-paruchuru-Desktop-photoeditor\eaf3932d-2151-4196-8d11-1209a11209cf\scratchpad\assets_v2\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046720" cy="2103120"/>
          </a:xfrm>
          <a:prstGeom prst="rect">
            <a:avLst/>
          </a:prstGeom>
        </p:spPr>
      </p:pic>
      <p:sp>
        <p:nvSpPr>
          <p:cNvPr id="5" name="Strip label 1"/>
          <p:cNvSpPr txBox="1"/>
          <p:nvPr/>
        </p:nvSpPr>
        <p:spPr>
          <a:xfrm>
            <a:off x="691763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6" name="Strip label 2"/>
          <p:cNvSpPr txBox="1"/>
          <p:nvPr/>
        </p:nvSpPr>
        <p:spPr>
          <a:xfrm>
            <a:off x="2266122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1</a:t>
            </a:r>
            <a:endParaRPr lang="en-US" sz="1300" dirty="0"/>
          </a:p>
        </p:txBody>
      </p:sp>
      <p:sp>
        <p:nvSpPr>
          <p:cNvPr id="7" name="Strip label 3"/>
          <p:cNvSpPr txBox="1"/>
          <p:nvPr/>
        </p:nvSpPr>
        <p:spPr>
          <a:xfrm>
            <a:off x="3840480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2</a:t>
            </a:r>
            <a:endParaRPr lang="en-US" sz="1300" dirty="0"/>
          </a:p>
        </p:txBody>
      </p:sp>
      <p:sp>
        <p:nvSpPr>
          <p:cNvPr id="8" name="Strip label 4"/>
          <p:cNvSpPr txBox="1"/>
          <p:nvPr/>
        </p:nvSpPr>
        <p:spPr>
          <a:xfrm>
            <a:off x="5414838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3</a:t>
            </a:r>
            <a:endParaRPr lang="en-US" sz="1300" dirty="0"/>
          </a:p>
        </p:txBody>
      </p:sp>
      <p:sp>
        <p:nvSpPr>
          <p:cNvPr id="9" name="Strip label 5"/>
          <p:cNvSpPr txBox="1"/>
          <p:nvPr/>
        </p:nvSpPr>
        <p:spPr>
          <a:xfrm>
            <a:off x="6989197" y="34747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 4</a:t>
            </a:r>
            <a:endParaRPr lang="en-US" sz="1300" dirty="0"/>
          </a:p>
        </p:txBody>
      </p:sp>
      <p:sp>
        <p:nvSpPr>
          <p:cNvPr id="10" name="Caption 1 title"/>
          <p:cNvSpPr txBox="1"/>
          <p:nvPr/>
        </p:nvSpPr>
        <p:spPr>
          <a:xfrm>
            <a:off x="45720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structure, new angles</a:t>
            </a:r>
            <a:endParaRPr lang="en-US" sz="1400" dirty="0"/>
          </a:p>
        </p:txBody>
      </p:sp>
      <p:sp>
        <p:nvSpPr>
          <p:cNvPr id="11" name="Caption 1 text"/>
          <p:cNvSpPr txBox="1"/>
          <p:nvPr/>
        </p:nvSpPr>
        <p:spPr>
          <a:xfrm>
            <a:off x="45720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Copy, photo, colourway and layout change while brand rules hold.</a:t>
            </a:r>
            <a:endParaRPr lang="en-US" sz="1200" dirty="0"/>
          </a:p>
        </p:txBody>
      </p:sp>
      <p:sp>
        <p:nvSpPr>
          <p:cNvPr id="12" name="Caption 2 title"/>
          <p:cNvSpPr txBox="1"/>
          <p:nvPr/>
        </p:nvSpPr>
        <p:spPr>
          <a:xfrm>
            <a:off x="324612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Recreate is instant</a:t>
            </a:r>
            <a:endParaRPr lang="en-US" sz="1400" dirty="0"/>
          </a:p>
        </p:txBody>
      </p:sp>
      <p:sp>
        <p:nvSpPr>
          <p:cNvPr id="13" name="Caption 2 text"/>
          <p:cNvSpPr txBox="1"/>
          <p:nvPr/>
        </p:nvSpPr>
        <p:spPr>
          <a:xfrm>
            <a:off x="324612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 reference ads are stored as Slots. No AI call needed.</a:t>
            </a:r>
            <a:endParaRPr lang="en-US" sz="1200" dirty="0"/>
          </a:p>
        </p:txBody>
      </p:sp>
      <p:sp>
        <p:nvSpPr>
          <p:cNvPr id="14" name="Caption 3 title"/>
          <p:cNvSpPr txBox="1"/>
          <p:nvPr/>
        </p:nvSpPr>
        <p:spPr>
          <a:xfrm>
            <a:off x="6035040" y="41148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variation is editable</a:t>
            </a:r>
            <a:endParaRPr lang="en-US" sz="1400" dirty="0"/>
          </a:p>
        </p:txBody>
      </p:sp>
      <p:sp>
        <p:nvSpPr>
          <p:cNvPr id="15" name="Caption 3 text"/>
          <p:cNvSpPr txBox="1"/>
          <p:nvPr/>
        </p:nvSpPr>
        <p:spPr>
          <a:xfrm>
            <a:off x="6035040" y="44074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output is layered, never a flat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workflows, one toggle</a:t>
            </a:r>
            <a:endParaRPr lang="en-US" sz="3400" dirty="0"/>
          </a:p>
        </p:txBody>
      </p:sp>
      <p:sp>
        <p:nvSpPr>
          <p:cNvPr id="3" name="Direct card"/>
          <p:cNvSpPr/>
          <p:nvPr/>
        </p:nvSpPr>
        <p:spPr>
          <a:xfrm>
            <a:off x="457200" y="1143000"/>
            <a:ext cx="4023360" cy="1600200"/>
          </a:xfrm>
          <a:prstGeom prst="roundRect">
            <a:avLst>
              <a:gd name="adj" fmla="val 8000"/>
            </a:avLst>
          </a:prstGeom>
          <a:solidFill>
            <a:srgbClr val="AFC6F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Direct title"/>
          <p:cNvSpPr txBox="1"/>
          <p:nvPr/>
        </p:nvSpPr>
        <p:spPr>
          <a:xfrm>
            <a:off x="6858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(default)</a:t>
            </a:r>
            <a:endParaRPr lang="en-US" sz="1800" dirty="0"/>
          </a:p>
        </p:txBody>
      </p:sp>
      <p:sp>
        <p:nvSpPr>
          <p:cNvPr id="5" name="Direct text"/>
          <p:cNvSpPr txBox="1"/>
          <p:nvPr/>
        </p:nvSpPr>
        <p:spPr>
          <a:xfrm>
            <a:off x="68580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message, one model call, instant layout. Best for clear requests and quick edits like “make it dark”.</a:t>
            </a:r>
            <a:endParaRPr lang="en-US" sz="1400" dirty="0"/>
          </a:p>
        </p:txBody>
      </p:sp>
      <p:sp>
        <p:nvSpPr>
          <p:cNvPr id="6" name="Agentic card"/>
          <p:cNvSpPr/>
          <p:nvPr/>
        </p:nvSpPr>
        <p:spPr>
          <a:xfrm>
            <a:off x="4663440" y="1143000"/>
            <a:ext cx="4023360" cy="1600200"/>
          </a:xfrm>
          <a:prstGeom prst="roundRect">
            <a:avLst>
              <a:gd name="adj" fmla="val 8000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Agentic title"/>
          <p:cNvSpPr txBox="1"/>
          <p:nvPr/>
        </p:nvSpPr>
        <p:spPr>
          <a:xfrm>
            <a:off x="489204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800" dirty="0"/>
          </a:p>
        </p:txBody>
      </p:sp>
      <p:sp>
        <p:nvSpPr>
          <p:cNvPr id="8" name="Agentic text"/>
          <p:cNvSpPr txBox="1"/>
          <p:nvPr/>
        </p:nvSpPr>
        <p:spPr>
          <a:xfrm>
            <a:off x="4892040" y="16916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Asks when the brief is unclear and checks its own work. Best for vague briefs, campaigns and multi-step requests.</a:t>
            </a:r>
            <a:endParaRPr lang="en-US" sz="1400" dirty="0"/>
          </a:p>
        </p:txBody>
      </p:sp>
      <p:sp>
        <p:nvSpPr>
          <p:cNvPr id="9" name="Step 1"/>
          <p:cNvSpPr/>
          <p:nvPr/>
        </p:nvSpPr>
        <p:spPr>
          <a:xfrm>
            <a:off x="45720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Step 1 badge"/>
          <p:cNvSpPr/>
          <p:nvPr/>
        </p:nvSpPr>
        <p:spPr>
          <a:xfrm>
            <a:off x="594360" y="3154680"/>
            <a:ext cx="384048" cy="384048"/>
          </a:xfrm>
          <a:prstGeom prst="ellipse">
            <a:avLst/>
          </a:prstGeom>
          <a:solidFill>
            <a:srgbClr val="1F3C88"/>
          </a:solidFill>
          <a:ln/>
        </p:spPr>
      </p:sp>
      <p:sp>
        <p:nvSpPr>
          <p:cNvPr id="11" name="Step 1 number"/>
          <p:cNvSpPr txBox="1"/>
          <p:nvPr/>
        </p:nvSpPr>
        <p:spPr>
          <a:xfrm>
            <a:off x="5943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tep 1 title"/>
          <p:cNvSpPr txBox="1"/>
          <p:nvPr/>
        </p:nvSpPr>
        <p:spPr>
          <a:xfrm>
            <a:off x="107899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13" name="Step 1 role"/>
          <p:cNvSpPr txBox="1"/>
          <p:nvPr/>
        </p:nvSpPr>
        <p:spPr>
          <a:xfrm>
            <a:off x="107899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STRATEGIST</a:t>
            </a:r>
            <a:endParaRPr lang="en-US" sz="1000" dirty="0"/>
          </a:p>
        </p:txBody>
      </p:sp>
      <p:sp>
        <p:nvSpPr>
          <p:cNvPr id="14" name="Step 1 text"/>
          <p:cNvSpPr txBox="1"/>
          <p:nvPr/>
        </p:nvSpPr>
        <p:spPr>
          <a:xfrm>
            <a:off x="59436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3 one-click questions, or Just go</a:t>
            </a:r>
            <a:endParaRPr lang="en-US" sz="1200" dirty="0"/>
          </a:p>
        </p:txBody>
      </p:sp>
      <p:sp>
        <p:nvSpPr>
          <p:cNvPr id="15" name="Step arrow 1"/>
          <p:cNvSpPr txBox="1"/>
          <p:nvPr/>
        </p:nvSpPr>
        <p:spPr>
          <a:xfrm>
            <a:off x="233172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tep 2"/>
          <p:cNvSpPr/>
          <p:nvPr/>
        </p:nvSpPr>
        <p:spPr>
          <a:xfrm>
            <a:off x="256032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7" name="Step 2 badge"/>
          <p:cNvSpPr/>
          <p:nvPr/>
        </p:nvSpPr>
        <p:spPr>
          <a:xfrm>
            <a:off x="2697480" y="3154680"/>
            <a:ext cx="384048" cy="384048"/>
          </a:xfrm>
          <a:prstGeom prst="ellipse">
            <a:avLst/>
          </a:prstGeom>
          <a:solidFill>
            <a:srgbClr val="3A66D4"/>
          </a:solidFill>
          <a:ln/>
        </p:spPr>
      </p:sp>
      <p:sp>
        <p:nvSpPr>
          <p:cNvPr id="18" name="Step 2 number"/>
          <p:cNvSpPr txBox="1"/>
          <p:nvPr/>
        </p:nvSpPr>
        <p:spPr>
          <a:xfrm>
            <a:off x="269748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tep 2 title"/>
          <p:cNvSpPr txBox="1"/>
          <p:nvPr/>
        </p:nvSpPr>
        <p:spPr>
          <a:xfrm>
            <a:off x="318211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400" dirty="0"/>
          </a:p>
        </p:txBody>
      </p:sp>
      <p:sp>
        <p:nvSpPr>
          <p:cNvPr id="20" name="Step 2 role"/>
          <p:cNvSpPr txBox="1"/>
          <p:nvPr/>
        </p:nvSpPr>
        <p:spPr>
          <a:xfrm>
            <a:off x="318211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</a:t>
            </a:r>
            <a:endParaRPr lang="en-US" sz="1000" dirty="0"/>
          </a:p>
        </p:txBody>
      </p:sp>
      <p:sp>
        <p:nvSpPr>
          <p:cNvPr id="21" name="Step 2 text"/>
          <p:cNvSpPr txBox="1"/>
          <p:nvPr/>
        </p:nvSpPr>
        <p:spPr>
          <a:xfrm>
            <a:off x="269748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vary, edit, resize or run a checklist</a:t>
            </a:r>
            <a:endParaRPr lang="en-US" sz="1200" dirty="0"/>
          </a:p>
        </p:txBody>
      </p:sp>
      <p:sp>
        <p:nvSpPr>
          <p:cNvPr id="22" name="Step arrow 2"/>
          <p:cNvSpPr txBox="1"/>
          <p:nvPr/>
        </p:nvSpPr>
        <p:spPr>
          <a:xfrm>
            <a:off x="443484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tep 3"/>
          <p:cNvSpPr/>
          <p:nvPr/>
        </p:nvSpPr>
        <p:spPr>
          <a:xfrm>
            <a:off x="466344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tep 3 badge"/>
          <p:cNvSpPr/>
          <p:nvPr/>
        </p:nvSpPr>
        <p:spPr>
          <a:xfrm>
            <a:off x="4800600" y="3154680"/>
            <a:ext cx="384048" cy="384048"/>
          </a:xfrm>
          <a:prstGeom prst="ellipse">
            <a:avLst/>
          </a:prstGeom>
          <a:solidFill>
            <a:srgbClr val="1F3C88"/>
          </a:solidFill>
          <a:ln/>
        </p:spPr>
      </p:sp>
      <p:sp>
        <p:nvSpPr>
          <p:cNvPr id="25" name="Step 3 number"/>
          <p:cNvSpPr txBox="1"/>
          <p:nvPr/>
        </p:nvSpPr>
        <p:spPr>
          <a:xfrm>
            <a:off x="48006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tep 3 title"/>
          <p:cNvSpPr txBox="1"/>
          <p:nvPr/>
        </p:nvSpPr>
        <p:spPr>
          <a:xfrm>
            <a:off x="528523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27" name="Step 3 role"/>
          <p:cNvSpPr txBox="1"/>
          <p:nvPr/>
        </p:nvSpPr>
        <p:spPr>
          <a:xfrm>
            <a:off x="528523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</a:t>
            </a:r>
            <a:endParaRPr lang="en-US" sz="1000" dirty="0"/>
          </a:p>
        </p:txBody>
      </p:sp>
      <p:sp>
        <p:nvSpPr>
          <p:cNvPr id="28" name="Step 3 text"/>
          <p:cNvSpPr txBox="1"/>
          <p:nvPr/>
        </p:nvSpPr>
        <p:spPr>
          <a:xfrm>
            <a:off x="480060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Render, score, fix, keep the better version</a:t>
            </a:r>
            <a:endParaRPr lang="en-US" sz="1200" dirty="0"/>
          </a:p>
        </p:txBody>
      </p:sp>
      <p:sp>
        <p:nvSpPr>
          <p:cNvPr id="29" name="Step arrow 3"/>
          <p:cNvSpPr txBox="1"/>
          <p:nvPr/>
        </p:nvSpPr>
        <p:spPr>
          <a:xfrm>
            <a:off x="6537960" y="352044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tep 4"/>
          <p:cNvSpPr/>
          <p:nvPr/>
        </p:nvSpPr>
        <p:spPr>
          <a:xfrm>
            <a:off x="6766560" y="3017520"/>
            <a:ext cx="1874520" cy="1463040"/>
          </a:xfrm>
          <a:prstGeom prst="roundRect">
            <a:avLst>
              <a:gd name="adj" fmla="val 8750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1" name="Step 4 badge"/>
          <p:cNvSpPr/>
          <p:nvPr/>
        </p:nvSpPr>
        <p:spPr>
          <a:xfrm>
            <a:off x="6903720" y="3154680"/>
            <a:ext cx="384048" cy="384048"/>
          </a:xfrm>
          <a:prstGeom prst="ellipse">
            <a:avLst/>
          </a:prstGeom>
          <a:solidFill>
            <a:srgbClr val="3A66D4"/>
          </a:solidFill>
          <a:ln/>
        </p:spPr>
      </p:sp>
      <p:sp>
        <p:nvSpPr>
          <p:cNvPr id="32" name="Step 4 number"/>
          <p:cNvSpPr txBox="1"/>
          <p:nvPr/>
        </p:nvSpPr>
        <p:spPr>
          <a:xfrm>
            <a:off x="690372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Step 4 title"/>
          <p:cNvSpPr txBox="1"/>
          <p:nvPr/>
        </p:nvSpPr>
        <p:spPr>
          <a:xfrm>
            <a:off x="7388352" y="315468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1400" dirty="0"/>
          </a:p>
        </p:txBody>
      </p:sp>
      <p:sp>
        <p:nvSpPr>
          <p:cNvPr id="34" name="Step 4 role"/>
          <p:cNvSpPr txBox="1"/>
          <p:nvPr/>
        </p:nvSpPr>
        <p:spPr>
          <a:xfrm>
            <a:off x="7388352" y="33832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</a:t>
            </a:r>
            <a:endParaRPr lang="en-US" sz="1000" dirty="0"/>
          </a:p>
        </p:txBody>
      </p:sp>
      <p:sp>
        <p:nvSpPr>
          <p:cNvPr id="35" name="Step 4 text"/>
          <p:cNvSpPr txBox="1"/>
          <p:nvPr/>
        </p:nvSpPr>
        <p:spPr>
          <a:xfrm>
            <a:off x="6903720" y="370332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 3 next-step chips</a:t>
            </a:r>
            <a:endParaRPr lang="en-US" sz="1200" dirty="0"/>
          </a:p>
        </p:txBody>
      </p:sp>
      <p:sp>
        <p:nvSpPr>
          <p:cNvPr id="36" name="Fallback note"/>
          <p:cNvSpPr txBox="1"/>
          <p:nvPr/>
        </p:nvSpPr>
        <p:spPr>
          <a:xfrm>
            <a:off x="457200" y="4572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planner fails, agent mode falls back to Direct, so turning it on never makes things worse.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creative team inside the editor</a:t>
            </a:r>
            <a:endParaRPr lang="en-US" sz="3400" dirty="0"/>
          </a:p>
        </p:txBody>
      </p:sp>
      <p:sp>
        <p:nvSpPr>
          <p:cNvPr id="3" name="Role card 1"/>
          <p:cNvSpPr/>
          <p:nvPr/>
        </p:nvSpPr>
        <p:spPr>
          <a:xfrm>
            <a:off x="457200" y="1143000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ole 1 circle"/>
          <p:cNvSpPr/>
          <p:nvPr/>
        </p:nvSpPr>
        <p:spPr>
          <a:xfrm>
            <a:off x="640080" y="1399032"/>
            <a:ext cx="457200" cy="457200"/>
          </a:xfrm>
          <a:prstGeom prst="ellipse">
            <a:avLst/>
          </a:prstGeom>
          <a:solidFill>
            <a:srgbClr val="1F3C88"/>
          </a:solidFill>
          <a:ln/>
        </p:spPr>
      </p:sp>
      <p:pic>
        <p:nvPicPr>
          <p:cNvPr id="5" name="Rol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513332"/>
            <a:ext cx="228600" cy="228600"/>
          </a:xfrm>
          <a:prstGeom prst="rect">
            <a:avLst/>
          </a:prstGeom>
        </p:spPr>
      </p:pic>
      <p:sp>
        <p:nvSpPr>
          <p:cNvPr id="6" name="Role 1 title"/>
          <p:cNvSpPr txBox="1"/>
          <p:nvPr/>
        </p:nvSpPr>
        <p:spPr>
          <a:xfrm>
            <a:off x="1280160" y="12801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Strategist</a:t>
            </a:r>
            <a:endParaRPr lang="en-US" sz="1800" dirty="0"/>
          </a:p>
        </p:txBody>
      </p:sp>
      <p:sp>
        <p:nvSpPr>
          <p:cNvPr id="7" name="Role 1 text"/>
          <p:cNvSpPr txBox="1"/>
          <p:nvPr/>
        </p:nvSpPr>
        <p:spPr>
          <a:xfrm>
            <a:off x="1280160" y="1600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brief · asks what is missing · sets the must-haves</a:t>
            </a:r>
            <a:endParaRPr lang="en-US" sz="1200" dirty="0"/>
          </a:p>
        </p:txBody>
      </p:sp>
      <p:sp>
        <p:nvSpPr>
          <p:cNvPr id="8" name="Role card 2"/>
          <p:cNvSpPr/>
          <p:nvPr/>
        </p:nvSpPr>
        <p:spPr>
          <a:xfrm>
            <a:off x="457200" y="2221992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9" name="Role 2 circle"/>
          <p:cNvSpPr/>
          <p:nvPr/>
        </p:nvSpPr>
        <p:spPr>
          <a:xfrm>
            <a:off x="640080" y="2478024"/>
            <a:ext cx="457200" cy="457200"/>
          </a:xfrm>
          <a:prstGeom prst="ellipse">
            <a:avLst/>
          </a:prstGeom>
          <a:solidFill>
            <a:srgbClr val="3A66D4"/>
          </a:solidFill>
          <a:ln/>
        </p:spPr>
      </p:sp>
      <p:pic>
        <p:nvPicPr>
          <p:cNvPr id="10" name="Rol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" y="2592324"/>
            <a:ext cx="228600" cy="228600"/>
          </a:xfrm>
          <a:prstGeom prst="rect">
            <a:avLst/>
          </a:prstGeom>
        </p:spPr>
      </p:pic>
      <p:sp>
        <p:nvSpPr>
          <p:cNvPr id="11" name="Role 2 title"/>
          <p:cNvSpPr txBox="1"/>
          <p:nvPr/>
        </p:nvSpPr>
        <p:spPr>
          <a:xfrm>
            <a:off x="1280160" y="23591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Producer</a:t>
            </a:r>
            <a:endParaRPr lang="en-US" sz="1800" dirty="0"/>
          </a:p>
        </p:txBody>
      </p:sp>
      <p:sp>
        <p:nvSpPr>
          <p:cNvPr id="12" name="Role 2 text"/>
          <p:cNvSpPr txBox="1"/>
          <p:nvPr/>
        </p:nvSpPr>
        <p:spPr>
          <a:xfrm>
            <a:off x="1280160" y="2679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copy · builds editable layers · makes themed photos</a:t>
            </a:r>
            <a:endParaRPr lang="en-US" sz="1200" dirty="0"/>
          </a:p>
        </p:txBody>
      </p:sp>
      <p:sp>
        <p:nvSpPr>
          <p:cNvPr id="13" name="Role card 3"/>
          <p:cNvSpPr/>
          <p:nvPr/>
        </p:nvSpPr>
        <p:spPr>
          <a:xfrm>
            <a:off x="457200" y="3300984"/>
            <a:ext cx="5029200" cy="969264"/>
          </a:xfrm>
          <a:prstGeom prst="roundRect">
            <a:avLst>
              <a:gd name="adj" fmla="val 13208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4" name="Role 3 circle"/>
          <p:cNvSpPr/>
          <p:nvPr/>
        </p:nvSpPr>
        <p:spPr>
          <a:xfrm>
            <a:off x="640080" y="3557016"/>
            <a:ext cx="457200" cy="457200"/>
          </a:xfrm>
          <a:prstGeom prst="ellipse">
            <a:avLst/>
          </a:prstGeom>
          <a:solidFill>
            <a:srgbClr val="14284B"/>
          </a:solidFill>
          <a:ln/>
        </p:spPr>
      </p:sp>
      <p:pic>
        <p:nvPicPr>
          <p:cNvPr id="15" name="Rol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3671316"/>
            <a:ext cx="228600" cy="228600"/>
          </a:xfrm>
          <a:prstGeom prst="rect">
            <a:avLst/>
          </a:prstGeom>
        </p:spPr>
      </p:pic>
      <p:sp>
        <p:nvSpPr>
          <p:cNvPr id="16" name="Role 3 title"/>
          <p:cNvSpPr txBox="1"/>
          <p:nvPr/>
        </p:nvSpPr>
        <p:spPr>
          <a:xfrm>
            <a:off x="1280160" y="343814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 Director</a:t>
            </a:r>
            <a:endParaRPr lang="en-US" sz="1800" dirty="0"/>
          </a:p>
        </p:txBody>
      </p:sp>
      <p:sp>
        <p:nvSpPr>
          <p:cNvPr id="17" name="Role 3 text"/>
          <p:cNvSpPr txBox="1"/>
          <p:nvPr/>
        </p:nvSpPr>
        <p:spPr>
          <a:xfrm>
            <a:off x="1280160" y="375818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designs · scores with vision · fixes, keeps the best</a:t>
            </a:r>
            <a:endParaRPr lang="en-US" sz="1200" dirty="0"/>
          </a:p>
        </p:txBody>
      </p:sp>
      <p:sp>
        <p:nvSpPr>
          <p:cNvPr id="18" name="Credit"/>
          <p:cNvSpPr txBox="1"/>
          <p:nvPr/>
        </p:nvSpPr>
        <p:spPr>
          <a:xfrm>
            <a:off x="457200" y="441655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Inspired by GetCrux's Creative Strategist and Creative Producer. We added the Art Director as the quality gate. Every run starts from a Brand Kit card: typography, colours, icons, illustrations.</a:t>
            </a:r>
            <a:endParaRPr lang="en-US" sz="1100" dirty="0"/>
          </a:p>
        </p:txBody>
      </p:sp>
      <p:pic>
        <p:nvPicPr>
          <p:cNvPr id="19" name="Real Strategist questions screenshot" descr="C:\Users\sreekar.paruchuru\AppData\Local\Temp\claude\c--Users-sreekar-paruchuru-Desktop-photoeditor\eaf3932d-2151-4196-8d11-1209a11209cf\scratchpad\assets_v2\tea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051560"/>
            <a:ext cx="2926080" cy="37124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Quality, measured</a:t>
            </a:r>
            <a:endParaRPr lang="en-US" sz="3400" dirty="0"/>
          </a:p>
        </p:txBody>
      </p:sp>
      <p:sp>
        <p:nvSpPr>
          <p:cNvPr id="3" name="Loop card"/>
          <p:cNvSpPr/>
          <p:nvPr/>
        </p:nvSpPr>
        <p:spPr>
          <a:xfrm>
            <a:off x="457200" y="1143000"/>
            <a:ext cx="2926080" cy="3611880"/>
          </a:xfrm>
          <a:prstGeom prst="roundRect">
            <a:avLst>
              <a:gd name="adj" fmla="val 4375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Loop label"/>
          <p:cNvSpPr txBox="1"/>
          <p:nvPr/>
        </p:nvSpPr>
        <p:spPr>
          <a:xfrm>
            <a:off x="685800" y="13258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SCORING LOOP</a:t>
            </a:r>
            <a:endParaRPr lang="en-US" sz="1200" dirty="0"/>
          </a:p>
        </p:txBody>
      </p:sp>
      <p:sp>
        <p:nvSpPr>
          <p:cNvPr id="5" name="Loop step 1"/>
          <p:cNvSpPr txBox="1"/>
          <p:nvPr/>
        </p:nvSpPr>
        <p:spPr>
          <a:xfrm>
            <a:off x="685800" y="16916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Generate on-brand concepts</a:t>
            </a:r>
            <a:endParaRPr lang="en-US" sz="1300" dirty="0"/>
          </a:p>
        </p:txBody>
      </p:sp>
      <p:sp>
        <p:nvSpPr>
          <p:cNvPr id="6" name="Loop step 2"/>
          <p:cNvSpPr txBox="1"/>
          <p:nvPr/>
        </p:nvSpPr>
        <p:spPr>
          <a:xfrm>
            <a:off x="685800" y="2148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Critique: must-haves and brand rules</a:t>
            </a:r>
            <a:endParaRPr lang="en-US" sz="1300" dirty="0"/>
          </a:p>
        </p:txBody>
      </p:sp>
      <p:sp>
        <p:nvSpPr>
          <p:cNvPr id="7" name="Loop step 3"/>
          <p:cNvSpPr txBox="1"/>
          <p:nvPr/>
        </p:nvSpPr>
        <p:spPr>
          <a:xfrm>
            <a:off x="685800" y="26060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Score, fix, re-score</a:t>
            </a:r>
            <a:endParaRPr lang="en-US" sz="1300" dirty="0"/>
          </a:p>
        </p:txBody>
      </p:sp>
      <p:sp>
        <p:nvSpPr>
          <p:cNvPr id="8" name="Formula box"/>
          <p:cNvSpPr/>
          <p:nvPr/>
        </p:nvSpPr>
        <p:spPr>
          <a:xfrm>
            <a:off x="685800" y="3154680"/>
            <a:ext cx="2468880" cy="1417320"/>
          </a:xfrm>
          <a:prstGeom prst="roundRect">
            <a:avLst>
              <a:gd name="adj" fmla="val 9032"/>
            </a:avLst>
          </a:prstGeom>
          <a:solidFill>
            <a:srgbClr val="F4ECDD"/>
          </a:solidFill>
          <a:ln/>
        </p:spPr>
      </p:sp>
      <p:sp>
        <p:nvSpPr>
          <p:cNvPr id="9" name="Formula title"/>
          <p:cNvSpPr txBox="1"/>
          <p:nvPr/>
        </p:nvSpPr>
        <p:spPr>
          <a:xfrm>
            <a:off x="868680" y="3273552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</a:t>
            </a:r>
            <a:endParaRPr lang="en-US" sz="1100" dirty="0"/>
          </a:p>
        </p:txBody>
      </p:sp>
      <p:sp>
        <p:nvSpPr>
          <p:cNvPr id="10" name="Formula"/>
          <p:cNvSpPr txBox="1"/>
          <p:nvPr/>
        </p:nvSpPr>
        <p:spPr>
          <a:xfrm>
            <a:off x="868680" y="3547872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vision score − 8 per brand error − 3 per brand warning</a:t>
            </a:r>
            <a:endParaRPr lang="en-US" sz="1300" dirty="0"/>
          </a:p>
        </p:txBody>
      </p:sp>
      <p:sp>
        <p:nvSpPr>
          <p:cNvPr id="11" name="Pass"/>
          <p:cNvSpPr txBox="1"/>
          <p:nvPr/>
        </p:nvSpPr>
        <p:spPr>
          <a:xfrm>
            <a:off x="868680" y="41879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F3C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at 85</a:t>
            </a:r>
            <a:endParaRPr lang="en-US" sz="1600" dirty="0"/>
          </a:p>
        </p:txBody>
      </p:sp>
      <p:sp>
        <p:nvSpPr>
          <p:cNvPr id="12" name="Real run label"/>
          <p:cNvSpPr txBox="1"/>
          <p:nvPr/>
        </p:nvSpPr>
        <p:spPr>
          <a:xfrm>
            <a:off x="3611880" y="11430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RUN: CHRISTMAS CAMPAIGN FOR LOCAL BUSINESSES</a:t>
            </a:r>
            <a:endParaRPr lang="en-US" sz="1100" dirty="0"/>
          </a:p>
        </p:txBody>
      </p:sp>
      <p:pic>
        <p:nvPicPr>
          <p:cNvPr id="13" name="Three real Christmas ads" descr="C:\Users\sreekar.paruchuru\AppData\Local\Temp\claude\c--Users-sreekar-paruchuru-Desktop-photoeditor\eaf3932d-2151-4196-8d11-1209a11209cf\scratchpad\assets_v2\x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417320"/>
            <a:ext cx="5166360" cy="2203704"/>
          </a:xfrm>
          <a:prstGeom prst="rect">
            <a:avLst/>
          </a:prstGeom>
        </p:spPr>
      </p:pic>
      <p:sp>
        <p:nvSpPr>
          <p:cNvPr id="14" name="Score label 1"/>
          <p:cNvSpPr txBox="1"/>
          <p:nvPr/>
        </p:nvSpPr>
        <p:spPr>
          <a:xfrm>
            <a:off x="3599404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Bakery · 88 pass</a:t>
            </a:r>
            <a:endParaRPr lang="en-US" sz="1200" dirty="0"/>
          </a:p>
        </p:txBody>
      </p:sp>
      <p:sp>
        <p:nvSpPr>
          <p:cNvPr id="15" name="Score label 2"/>
          <p:cNvSpPr txBox="1"/>
          <p:nvPr/>
        </p:nvSpPr>
        <p:spPr>
          <a:xfrm>
            <a:off x="5280660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6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Florist · 58 → 72</a:t>
            </a:r>
            <a:endParaRPr lang="en-US" sz="1200" dirty="0"/>
          </a:p>
        </p:txBody>
      </p:sp>
      <p:sp>
        <p:nvSpPr>
          <p:cNvPr id="16" name="Score label 3"/>
          <p:cNvSpPr txBox="1"/>
          <p:nvPr/>
        </p:nvSpPr>
        <p:spPr>
          <a:xfrm>
            <a:off x="6961916" y="3639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Restaurant · 62 flagged</a:t>
            </a:r>
            <a:endParaRPr lang="en-US" sz="1200" dirty="0"/>
          </a:p>
        </p:txBody>
      </p:sp>
      <p:sp>
        <p:nvSpPr>
          <p:cNvPr id="17" name="Learned card"/>
          <p:cNvSpPr/>
          <p:nvPr/>
        </p:nvSpPr>
        <p:spPr>
          <a:xfrm>
            <a:off x="3566160" y="3977640"/>
            <a:ext cx="5120640" cy="777240"/>
          </a:xfrm>
          <a:prstGeom prst="roundRect">
            <a:avLst>
              <a:gd name="adj" fmla="val 16471"/>
            </a:avLst>
          </a:prstGeom>
          <a:solidFill>
            <a:srgbClr val="FBF7EE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8" name="Learned text"/>
          <p:cNvSpPr txBox="1"/>
          <p:nvPr/>
        </p:nvSpPr>
        <p:spPr>
          <a:xfrm>
            <a:off x="3703320" y="40507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learned: </a:t>
            </a:r>
            <a:pPr indent="0" marL="0">
              <a:buNone/>
            </a:pPr>
            <a:r>
              <a:rPr lang="en-US" sz="12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1 passed every design, but Christmas was only in the copy. Now the critic checks each must-have, and a miss forces a themed photo.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by design, nothing good lost</a:t>
            </a:r>
            <a:endParaRPr lang="en-US" sz="3400" dirty="0"/>
          </a:p>
        </p:txBody>
      </p:sp>
      <p:sp>
        <p:nvSpPr>
          <p:cNvPr id="3" name="Guardrails label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4" name="Guardrail 1"/>
          <p:cNvSpPr/>
          <p:nvPr/>
        </p:nvSpPr>
        <p:spPr>
          <a:xfrm>
            <a:off x="457200" y="146304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5" name="Guardrail 1 num"/>
          <p:cNvSpPr txBox="1"/>
          <p:nvPr/>
        </p:nvSpPr>
        <p:spPr>
          <a:xfrm>
            <a:off x="548640" y="146304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Guardrail 1 text"/>
          <p:cNvSpPr txBox="1"/>
          <p:nvPr/>
        </p:nvSpPr>
        <p:spPr>
          <a:xfrm>
            <a:off x="1005840" y="146304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guard: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live rules; every agent fix passes auto-fix</a:t>
            </a:r>
            <a:endParaRPr lang="en-US" sz="1100" dirty="0"/>
          </a:p>
        </p:txBody>
      </p:sp>
      <p:sp>
        <p:nvSpPr>
          <p:cNvPr id="7" name="Guardrail 2"/>
          <p:cNvSpPr/>
          <p:nvPr/>
        </p:nvSpPr>
        <p:spPr>
          <a:xfrm>
            <a:off x="457200" y="210312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8" name="Guardrail 2 num"/>
          <p:cNvSpPr txBox="1"/>
          <p:nvPr/>
        </p:nvSpPr>
        <p:spPr>
          <a:xfrm>
            <a:off x="548640" y="2103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Guardrail 2 text"/>
          <p:cNvSpPr txBox="1"/>
          <p:nvPr/>
        </p:nvSpPr>
        <p:spPr>
          <a:xfrm>
            <a:off x="1005840" y="210312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checks: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Schema-validated JSON plus a repair pass for copied, over-long or invented claims</a:t>
            </a:r>
            <a:endParaRPr lang="en-US" sz="1100" dirty="0"/>
          </a:p>
        </p:txBody>
      </p:sp>
      <p:sp>
        <p:nvSpPr>
          <p:cNvPr id="10" name="Guardrail 3"/>
          <p:cNvSpPr/>
          <p:nvPr/>
        </p:nvSpPr>
        <p:spPr>
          <a:xfrm>
            <a:off x="457200" y="274320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1" name="Guardrail 3 num"/>
          <p:cNvSpPr txBox="1"/>
          <p:nvPr/>
        </p:nvSpPr>
        <p:spPr>
          <a:xfrm>
            <a:off x="548640" y="274320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Guardrail 3 text"/>
          <p:cNvSpPr txBox="1"/>
          <p:nvPr/>
        </p:nvSpPr>
        <p:spPr>
          <a:xfrm>
            <a:off x="100584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Off-brand asks: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text? Declined, with an on-brand alternative</a:t>
            </a:r>
            <a:endParaRPr lang="en-US" sz="1100" dirty="0"/>
          </a:p>
        </p:txBody>
      </p:sp>
      <p:sp>
        <p:nvSpPr>
          <p:cNvPr id="13" name="Guardrail 4"/>
          <p:cNvSpPr/>
          <p:nvPr/>
        </p:nvSpPr>
        <p:spPr>
          <a:xfrm>
            <a:off x="457200" y="338328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4" name="Guardrail 4 num"/>
          <p:cNvSpPr txBox="1"/>
          <p:nvPr/>
        </p:nvSpPr>
        <p:spPr>
          <a:xfrm>
            <a:off x="548640" y="33832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5" name="Guardrail 4 text"/>
          <p:cNvSpPr txBox="1"/>
          <p:nvPr/>
        </p:nvSpPr>
        <p:spPr>
          <a:xfrm>
            <a:off x="1005840" y="338328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limits: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question round, 2 review rounds, 45 s per design, max 8 designs</a:t>
            </a:r>
            <a:endParaRPr lang="en-US" sz="1100" dirty="0"/>
          </a:p>
        </p:txBody>
      </p:sp>
      <p:sp>
        <p:nvSpPr>
          <p:cNvPr id="16" name="Guardrail 5"/>
          <p:cNvSpPr/>
          <p:nvPr/>
        </p:nvSpPr>
        <p:spPr>
          <a:xfrm>
            <a:off x="457200" y="4023360"/>
            <a:ext cx="4206240" cy="566928"/>
          </a:xfrm>
          <a:prstGeom prst="roundRect">
            <a:avLst>
              <a:gd name="adj" fmla="val 22581"/>
            </a:avLst>
          </a:prstGeom>
          <a:solidFill>
            <a:srgbClr val="FBF7EE"/>
          </a:solidFill>
          <a:ln/>
        </p:spPr>
      </p:sp>
      <p:sp>
        <p:nvSpPr>
          <p:cNvPr id="17" name="Guardrail 5 num"/>
          <p:cNvSpPr txBox="1"/>
          <p:nvPr/>
        </p:nvSpPr>
        <p:spPr>
          <a:xfrm>
            <a:off x="548640" y="402336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66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18" name="Guardrail 5 text"/>
          <p:cNvSpPr txBox="1"/>
          <p:nvPr/>
        </p:nvSpPr>
        <p:spPr>
          <a:xfrm>
            <a:off x="1005840" y="402336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Reliability: </a:t>
            </a:r>
            <a:pPr indent="0" marL="0">
              <a:buNone/>
            </a:pPr>
            <a:r>
              <a:rPr lang="en-US" sz="1100" dirty="0">
                <a:solidFill>
                  <a:srgbClr val="1B2A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Retries with backoff; Pro and Flash cover for each other</a:t>
            </a:r>
            <a:endParaRPr lang="en-US" sz="1100" dirty="0"/>
          </a:p>
        </p:txBody>
      </p:sp>
      <p:sp>
        <p:nvSpPr>
          <p:cNvPr id="19" name="Saving label"/>
          <p:cNvSpPr txBox="1"/>
          <p:nvPr/>
        </p:nvSpPr>
        <p:spPr>
          <a:xfrm>
            <a:off x="4937760" y="11430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GOOD GETS LOST</a:t>
            </a:r>
            <a:endParaRPr lang="en-US" sz="1200" dirty="0"/>
          </a:p>
        </p:txBody>
      </p:sp>
      <p:sp>
        <p:nvSpPr>
          <p:cNvPr id="20" name="Save step 1"/>
          <p:cNvSpPr/>
          <p:nvPr/>
        </p:nvSpPr>
        <p:spPr>
          <a:xfrm>
            <a:off x="493776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1" name="Save step 1 title"/>
          <p:cNvSpPr txBox="1"/>
          <p:nvPr/>
        </p:nvSpPr>
        <p:spPr>
          <a:xfrm>
            <a:off x="507492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Snapshot</a:t>
            </a:r>
            <a:endParaRPr lang="en-US" sz="1400" dirty="0"/>
          </a:p>
        </p:txBody>
      </p:sp>
      <p:sp>
        <p:nvSpPr>
          <p:cNvPr id="22" name="Save step 1 text"/>
          <p:cNvSpPr txBox="1"/>
          <p:nvPr/>
        </p:nvSpPr>
        <p:spPr>
          <a:xfrm>
            <a:off x="507492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saved before any change</a:t>
            </a:r>
            <a:endParaRPr lang="en-US" sz="1100" dirty="0"/>
          </a:p>
        </p:txBody>
      </p:sp>
      <p:sp>
        <p:nvSpPr>
          <p:cNvPr id="23" name="Save step 2"/>
          <p:cNvSpPr/>
          <p:nvPr/>
        </p:nvSpPr>
        <p:spPr>
          <a:xfrm>
            <a:off x="6858000" y="146304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4" name="Save step 2 title"/>
          <p:cNvSpPr txBox="1"/>
          <p:nvPr/>
        </p:nvSpPr>
        <p:spPr>
          <a:xfrm>
            <a:off x="699516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Fix</a:t>
            </a:r>
            <a:endParaRPr lang="en-US" sz="1400" dirty="0"/>
          </a:p>
        </p:txBody>
      </p:sp>
      <p:sp>
        <p:nvSpPr>
          <p:cNvPr id="25" name="Save step 2 text"/>
          <p:cNvSpPr txBox="1"/>
          <p:nvPr/>
        </p:nvSpPr>
        <p:spPr>
          <a:xfrm>
            <a:off x="6995160" y="1901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Director applies its edits</a:t>
            </a:r>
            <a:endParaRPr lang="en-US" sz="1100" dirty="0"/>
          </a:p>
        </p:txBody>
      </p:sp>
      <p:sp>
        <p:nvSpPr>
          <p:cNvPr id="26" name="Save step 3"/>
          <p:cNvSpPr/>
          <p:nvPr/>
        </p:nvSpPr>
        <p:spPr>
          <a:xfrm>
            <a:off x="493776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27" name="Save step 3 title"/>
          <p:cNvSpPr txBox="1"/>
          <p:nvPr/>
        </p:nvSpPr>
        <p:spPr>
          <a:xfrm>
            <a:off x="507492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Re-score</a:t>
            </a:r>
            <a:endParaRPr lang="en-US" sz="1400" dirty="0"/>
          </a:p>
        </p:txBody>
      </p:sp>
      <p:sp>
        <p:nvSpPr>
          <p:cNvPr id="28" name="Save step 3 text"/>
          <p:cNvSpPr txBox="1"/>
          <p:nvPr/>
        </p:nvSpPr>
        <p:spPr>
          <a:xfrm>
            <a:off x="507492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and scored again</a:t>
            </a:r>
            <a:endParaRPr lang="en-US" sz="1100" dirty="0"/>
          </a:p>
        </p:txBody>
      </p:sp>
      <p:sp>
        <p:nvSpPr>
          <p:cNvPr id="29" name="Save step 4"/>
          <p:cNvSpPr/>
          <p:nvPr/>
        </p:nvSpPr>
        <p:spPr>
          <a:xfrm>
            <a:off x="6858000" y="2560320"/>
            <a:ext cx="1828800" cy="1005840"/>
          </a:xfrm>
          <a:prstGeom prst="roundRect">
            <a:avLst>
              <a:gd name="adj" fmla="val 12727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0" name="Save step 4 title"/>
          <p:cNvSpPr txBox="1"/>
          <p:nvPr/>
        </p:nvSpPr>
        <p:spPr>
          <a:xfrm>
            <a:off x="6995160" y="267004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Keep best</a:t>
            </a:r>
            <a:endParaRPr lang="en-US" sz="1400" dirty="0"/>
          </a:p>
        </p:txBody>
      </p:sp>
      <p:sp>
        <p:nvSpPr>
          <p:cNvPr id="31" name="Save step 4 text"/>
          <p:cNvSpPr txBox="1"/>
          <p:nvPr/>
        </p:nvSpPr>
        <p:spPr>
          <a:xfrm>
            <a:off x="6995160" y="29992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dropped? Reverted automatically</a:t>
            </a:r>
            <a:endParaRPr lang="en-US" sz="1100" dirty="0"/>
          </a:p>
        </p:txBody>
      </p:sp>
      <p:sp>
        <p:nvSpPr>
          <p:cNvPr id="32" name="Also kept"/>
          <p:cNvSpPr/>
          <p:nvPr/>
        </p:nvSpPr>
        <p:spPr>
          <a:xfrm>
            <a:off x="4937760" y="3703320"/>
            <a:ext cx="3749040" cy="1051560"/>
          </a:xfrm>
          <a:prstGeom prst="roundRect">
            <a:avLst>
              <a:gd name="adj" fmla="val 12174"/>
            </a:avLst>
          </a:prstGeom>
          <a:solidFill>
            <a:srgbClr val="AFC6F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3" name="Also kept text"/>
          <p:cNvSpPr txBox="1"/>
          <p:nvPr/>
        </p:nvSpPr>
        <p:spPr>
          <a:xfrm>
            <a:off x="5074920" y="3767328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kept: </a:t>
            </a:r>
            <a:pPr indent="0" marL="0">
              <a:buNone/>
            </a:pPr>
            <a:r>
              <a:rPr lang="en-US" sz="12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starred versions you can restore, a 42-photo bank, 20 reference ads stored as Slots, and your edits survive rebuilds.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editor, fast enough to demo live</a:t>
            </a:r>
            <a:endParaRPr lang="en-US" sz="3400" dirty="0"/>
          </a:p>
        </p:txBody>
      </p:sp>
      <p:pic>
        <p:nvPicPr>
          <p:cNvPr id="3" name="Real editor screenshot" descr="C:\Users\sreekar.paruchuru\AppData\Local\Temp\claude\c--Users-sreekar-paruchuru-Desktop-photoeditor\eaf3932d-2151-4196-8d11-1209a11209cf\scratchpad\assets_v2\ed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440680" cy="3703320"/>
          </a:xfrm>
          <a:prstGeom prst="rect">
            <a:avLst/>
          </a:prstGeom>
        </p:spPr>
      </p:pic>
      <p:sp>
        <p:nvSpPr>
          <p:cNvPr id="4" name="Callout 1"/>
          <p:cNvSpPr/>
          <p:nvPr/>
        </p:nvSpPr>
        <p:spPr>
          <a:xfrm>
            <a:off x="5989320" y="118872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5" name="Callout 1 title"/>
          <p:cNvSpPr txBox="1"/>
          <p:nvPr/>
        </p:nvSpPr>
        <p:spPr>
          <a:xfrm>
            <a:off x="617220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</a:t>
            </a:r>
            <a:endParaRPr lang="en-US" sz="1800" dirty="0"/>
          </a:p>
        </p:txBody>
      </p:sp>
      <p:sp>
        <p:nvSpPr>
          <p:cNvPr id="6" name="Callout 1 text"/>
          <p:cNvSpPr txBox="1"/>
          <p:nvPr/>
        </p:nvSpPr>
        <p:spPr>
          <a:xfrm>
            <a:off x="6172200" y="16642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bank, instant Recreate, designs reviewed in parallel</a:t>
            </a:r>
            <a:endParaRPr lang="en-US" sz="1200" dirty="0"/>
          </a:p>
        </p:txBody>
      </p:sp>
      <p:sp>
        <p:nvSpPr>
          <p:cNvPr id="7" name="Callout 2"/>
          <p:cNvSpPr/>
          <p:nvPr/>
        </p:nvSpPr>
        <p:spPr>
          <a:xfrm>
            <a:off x="5989320" y="237744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3A66D4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8" name="Callout 2 title"/>
          <p:cNvSpPr txBox="1"/>
          <p:nvPr/>
        </p:nvSpPr>
        <p:spPr>
          <a:xfrm>
            <a:off x="6172200" y="24871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</a:t>
            </a:r>
            <a:endParaRPr lang="en-US" sz="1800" dirty="0"/>
          </a:p>
        </p:txBody>
      </p:sp>
      <p:sp>
        <p:nvSpPr>
          <p:cNvPr id="9" name="Callout 2 text"/>
          <p:cNvSpPr txBox="1"/>
          <p:nvPr/>
        </p:nvSpPr>
        <p:spPr>
          <a:xfrm>
            <a:off x="6172200" y="28529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step cards with role tags, one-click question chips</a:t>
            </a:r>
            <a:endParaRPr lang="en-US" sz="1200" dirty="0"/>
          </a:p>
        </p:txBody>
      </p:sp>
      <p:sp>
        <p:nvSpPr>
          <p:cNvPr id="10" name="Callout 3"/>
          <p:cNvSpPr/>
          <p:nvPr/>
        </p:nvSpPr>
        <p:spPr>
          <a:xfrm>
            <a:off x="5989320" y="3566160"/>
            <a:ext cx="2697480" cy="1078992"/>
          </a:xfrm>
          <a:prstGeom prst="roundRect">
            <a:avLst>
              <a:gd name="adj" fmla="val 11864"/>
            </a:avLst>
          </a:prstGeom>
          <a:solidFill>
            <a:srgbClr val="14284B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1" name="Callout 3 title"/>
          <p:cNvSpPr txBox="1"/>
          <p:nvPr/>
        </p:nvSpPr>
        <p:spPr>
          <a:xfrm>
            <a:off x="6172200" y="36758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Reversible</a:t>
            </a:r>
            <a:endParaRPr lang="en-US" sz="1800" dirty="0"/>
          </a:p>
        </p:txBody>
      </p:sp>
      <p:sp>
        <p:nvSpPr>
          <p:cNvPr id="12" name="Callout 3 text"/>
          <p:cNvSpPr txBox="1"/>
          <p:nvPr/>
        </p:nvSpPr>
        <p:spPr>
          <a:xfrm>
            <a:off x="6172200" y="404164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Layers, undo and redo, saved versions; every edit is an op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8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day card"/>
          <p:cNvSpPr/>
          <p:nvPr/>
        </p:nvSpPr>
        <p:spPr>
          <a:xfrm>
            <a:off x="457200" y="640080"/>
            <a:ext cx="4572000" cy="1828800"/>
          </a:xfrm>
          <a:prstGeom prst="roundRect">
            <a:avLst>
              <a:gd name="adj" fmla="val 7000"/>
            </a:avLst>
          </a:prstGeom>
          <a:solidFill>
            <a:srgbClr val="F4ECDD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3" name="Today title"/>
          <p:cNvSpPr txBox="1"/>
          <p:nvPr/>
        </p:nvSpPr>
        <p:spPr>
          <a:xfrm>
            <a:off x="685800" y="7772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4" name="Today list"/>
          <p:cNvSpPr txBox="1"/>
          <p:nvPr/>
        </p:nvSpPr>
        <p:spPr>
          <a:xfrm>
            <a:off x="685800" y="11430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stand-in fonts for the brand font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 art upscaled from small sources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42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comparison layout shown as rows</a:t>
            </a:r>
            <a:endParaRPr lang="en-US" sz="1400" dirty="0"/>
          </a:p>
        </p:txBody>
      </p:sp>
      <p:sp>
        <p:nvSpPr>
          <p:cNvPr id="5" name="Next card"/>
          <p:cNvSpPr/>
          <p:nvPr/>
        </p:nvSpPr>
        <p:spPr>
          <a:xfrm>
            <a:off x="457200" y="2697480"/>
            <a:ext cx="4572000" cy="1828800"/>
          </a:xfrm>
          <a:prstGeom prst="roundRect">
            <a:avLst>
              <a:gd name="adj" fmla="val 7000"/>
            </a:avLst>
          </a:prstGeom>
          <a:solidFill>
            <a:srgbClr val="1F3C88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6" name="Next title"/>
          <p:cNvSpPr txBox="1"/>
          <p:nvPr/>
        </p:nvSpPr>
        <p:spPr>
          <a:xfrm>
            <a:off x="685800" y="2834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7" name="Next list"/>
          <p:cNvSpPr txBox="1"/>
          <p:nvPr/>
        </p:nvSpPr>
        <p:spPr>
          <a:xfrm>
            <a:off x="685800" y="3200400"/>
            <a:ext cx="4160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Researcher agent, as in GetCrux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performance fed back to the Strategist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straight to ad platforms</a:t>
            </a:r>
            <a:endParaRPr lang="en-US" sz="1400" dirty="0"/>
          </a:p>
        </p:txBody>
      </p:sp>
      <p:sp>
        <p:nvSpPr>
          <p:cNvPr id="8" name="Thank you"/>
          <p:cNvSpPr txBox="1"/>
          <p:nvPr/>
        </p:nvSpPr>
        <p:spPr>
          <a:xfrm>
            <a:off x="5394960" y="13716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4EC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9" name="Demo and Q&amp;amp;A"/>
          <p:cNvSpPr txBox="1"/>
          <p:nvPr/>
        </p:nvSpPr>
        <p:spPr>
          <a:xfrm>
            <a:off x="539496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FC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and Q&amp;A</a:t>
            </a:r>
            <a:endParaRPr lang="en-US" sz="2200" dirty="0"/>
          </a:p>
        </p:txBody>
      </p:sp>
      <p:sp>
        <p:nvSpPr>
          <p:cNvPr id="10" name="Closing line"/>
          <p:cNvSpPr txBox="1"/>
          <p:nvPr/>
        </p:nvSpPr>
        <p:spPr>
          <a:xfrm>
            <a:off x="5394960" y="3108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4EC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rules in code. Creativity in the model. Every layer editable.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C6F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ue and Beige">
  <a:themeElements>
    <a:clrScheme name="Blue and Beige">
      <a:dk1>
        <a:srgbClr val="1B2A49"/>
      </a:dk1>
      <a:lt1>
        <a:srgbClr val="FFFFFF"/>
      </a:lt1>
      <a:dk2>
        <a:srgbClr val="14284B"/>
      </a:dk2>
      <a:lt2>
        <a:srgbClr val="F4ECDD"/>
      </a:lt2>
      <a:accent1>
        <a:srgbClr val="1F3C88"/>
      </a:accent1>
      <a:accent2>
        <a:srgbClr val="3A66D4"/>
      </a:accent2>
      <a:accent3>
        <a:srgbClr val="AFC6F2"/>
      </a:accent3>
      <a:accent4>
        <a:srgbClr val="B88A44"/>
      </a:accent4>
      <a:accent5>
        <a:srgbClr val="E6D8BC"/>
      </a:accent5>
      <a:accent6>
        <a:srgbClr val="5C6784"/>
      </a:accent6>
      <a:hlink>
        <a:srgbClr val="3A66D4"/>
      </a:hlink>
      <a:folHlink>
        <a:srgbClr val="5C6784"/>
      </a:folHlink>
    </a:clrScheme>
    <a:fontScheme name="Blue and Beig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Xero Copilot</dc:title>
  <dc:subject>PptxGenJS Presentation</dc:subject>
  <dc:creator>Xero Copilot</dc:creator>
  <cp:lastModifiedBy>Xero Copilot</cp:lastModifiedBy>
  <cp:revision>1</cp:revision>
  <dcterms:created xsi:type="dcterms:W3CDTF">2026-10-17T11:38:33Z</dcterms:created>
  <dcterms:modified xsi:type="dcterms:W3CDTF">2026-10-17T11:38:33Z</dcterms:modified>
</cp:coreProperties>
</file>